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67" r:id="rId3"/>
    <p:sldId id="268" r:id="rId4"/>
    <p:sldId id="258" r:id="rId5"/>
    <p:sldId id="273" r:id="rId6"/>
    <p:sldId id="274" r:id="rId7"/>
    <p:sldId id="291" r:id="rId8"/>
    <p:sldId id="275" r:id="rId9"/>
    <p:sldId id="283" r:id="rId10"/>
    <p:sldId id="304" r:id="rId11"/>
    <p:sldId id="286" r:id="rId12"/>
    <p:sldId id="305" r:id="rId13"/>
    <p:sldId id="281" r:id="rId14"/>
    <p:sldId id="282" r:id="rId15"/>
    <p:sldId id="276" r:id="rId16"/>
    <p:sldId id="261" r:id="rId17"/>
    <p:sldId id="284" r:id="rId18"/>
    <p:sldId id="306" r:id="rId19"/>
    <p:sldId id="296" r:id="rId20"/>
    <p:sldId id="293" r:id="rId21"/>
    <p:sldId id="295" r:id="rId22"/>
    <p:sldId id="307" r:id="rId23"/>
    <p:sldId id="297" r:id="rId24"/>
    <p:sldId id="298" r:id="rId25"/>
    <p:sldId id="299" r:id="rId26"/>
    <p:sldId id="300" r:id="rId27"/>
    <p:sldId id="310" r:id="rId28"/>
    <p:sldId id="294" r:id="rId29"/>
    <p:sldId id="308" r:id="rId30"/>
    <p:sldId id="277" r:id="rId31"/>
    <p:sldId id="263" r:id="rId32"/>
    <p:sldId id="280" r:id="rId33"/>
    <p:sldId id="301" r:id="rId34"/>
    <p:sldId id="278" r:id="rId35"/>
    <p:sldId id="264" r:id="rId36"/>
    <p:sldId id="302" r:id="rId37"/>
    <p:sldId id="309" r:id="rId38"/>
    <p:sldId id="279" r:id="rId39"/>
    <p:sldId id="303" r:id="rId40"/>
    <p:sldId id="266" r:id="rId41"/>
    <p:sldId id="265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324"/>
    <a:srgbClr val="FFFFFF"/>
    <a:srgbClr val="4472C4"/>
    <a:srgbClr val="FC8124"/>
    <a:srgbClr val="FF84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72425" autoAdjust="0"/>
  </p:normalViewPr>
  <p:slideViewPr>
    <p:cSldViewPr snapToGrid="0">
      <p:cViewPr>
        <p:scale>
          <a:sx n="100" d="100"/>
          <a:sy n="100" d="100"/>
        </p:scale>
        <p:origin x="2268" y="52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g66hua\Documents\GitHub\GitJournal\JDT\tot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CH"/>
              <a:t>Heures réalisées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7.6438571390511606E-2"/>
          <c:y val="0.12649089885733558"/>
          <c:w val="0.90344321067748856"/>
          <c:h val="0.743664485457291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Feuil1!$C$15</c:f>
              <c:strCache>
                <c:ptCount val="1"/>
                <c:pt idx="0">
                  <c:v>CDC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Feuil1!$D$14:$G$14</c:f>
              <c:strCache>
                <c:ptCount val="4"/>
                <c:pt idx="0">
                  <c:v>Analyse </c:v>
                </c:pt>
                <c:pt idx="1">
                  <c:v>Implementation</c:v>
                </c:pt>
                <c:pt idx="2">
                  <c:v>Test</c:v>
                </c:pt>
                <c:pt idx="3">
                  <c:v>Documentation</c:v>
                </c:pt>
              </c:strCache>
            </c:strRef>
          </c:cat>
          <c:val>
            <c:numRef>
              <c:f>Feuil1!$D$15:$G$15</c:f>
              <c:numCache>
                <c:formatCode>0.00%</c:formatCode>
                <c:ptCount val="4"/>
                <c:pt idx="0">
                  <c:v>0.3</c:v>
                </c:pt>
                <c:pt idx="1">
                  <c:v>0.4</c:v>
                </c:pt>
                <c:pt idx="2">
                  <c:v>0.15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7-4D3A-8731-D1A917E086B5}"/>
            </c:ext>
          </c:extLst>
        </c:ser>
        <c:ser>
          <c:idx val="1"/>
          <c:order val="1"/>
          <c:tx>
            <c:strRef>
              <c:f>Feuil1!$C$16</c:f>
              <c:strCache>
                <c:ptCount val="1"/>
                <c:pt idx="0">
                  <c:v>Planifiées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Feuil1!$D$14:$G$14</c:f>
              <c:strCache>
                <c:ptCount val="4"/>
                <c:pt idx="0">
                  <c:v>Analyse </c:v>
                </c:pt>
                <c:pt idx="1">
                  <c:v>Implementation</c:v>
                </c:pt>
                <c:pt idx="2">
                  <c:v>Test</c:v>
                </c:pt>
                <c:pt idx="3">
                  <c:v>Documentation</c:v>
                </c:pt>
              </c:strCache>
            </c:strRef>
          </c:cat>
          <c:val>
            <c:numRef>
              <c:f>Feuil1!$D$16:$G$16</c:f>
              <c:numCache>
                <c:formatCode>0.00%</c:formatCode>
                <c:ptCount val="4"/>
                <c:pt idx="0">
                  <c:v>7.9545454545454544E-2</c:v>
                </c:pt>
                <c:pt idx="1">
                  <c:v>0.69318181818181823</c:v>
                </c:pt>
                <c:pt idx="2">
                  <c:v>2.2727272727272728E-2</c:v>
                </c:pt>
                <c:pt idx="3">
                  <c:v>0.20454545454545456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47-4D3A-8731-D1A917E086B5}"/>
            </c:ext>
          </c:extLst>
        </c:ser>
        <c:ser>
          <c:idx val="2"/>
          <c:order val="2"/>
          <c:tx>
            <c:strRef>
              <c:f>Feuil1!$C$17</c:f>
              <c:strCache>
                <c:ptCount val="1"/>
                <c:pt idx="0">
                  <c:v>Réalisées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Feuil1!$D$14:$G$14</c:f>
              <c:strCache>
                <c:ptCount val="4"/>
                <c:pt idx="0">
                  <c:v>Analyse </c:v>
                </c:pt>
                <c:pt idx="1">
                  <c:v>Implementation</c:v>
                </c:pt>
                <c:pt idx="2">
                  <c:v>Test</c:v>
                </c:pt>
                <c:pt idx="3">
                  <c:v>Documentation</c:v>
                </c:pt>
              </c:strCache>
            </c:strRef>
          </c:cat>
          <c:val>
            <c:numRef>
              <c:f>Feuil1!$D$17:$G$17</c:f>
              <c:numCache>
                <c:formatCode>0.00%</c:formatCode>
                <c:ptCount val="4"/>
                <c:pt idx="0">
                  <c:v>0.17386363636363636</c:v>
                </c:pt>
                <c:pt idx="1">
                  <c:v>0.42272727272727278</c:v>
                </c:pt>
                <c:pt idx="2">
                  <c:v>7.9545454545454544E-2</c:v>
                </c:pt>
                <c:pt idx="3">
                  <c:v>0.32386363636363635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47-4D3A-8731-D1A917E086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5893568"/>
        <c:axId val="1139396336"/>
      </c:barChart>
      <c:catAx>
        <c:axId val="1725893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139396336"/>
        <c:crosses val="autoZero"/>
        <c:auto val="1"/>
        <c:lblAlgn val="ctr"/>
        <c:lblOffset val="100"/>
        <c:noMultiLvlLbl val="0"/>
      </c:catAx>
      <c:valAx>
        <c:axId val="113939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725893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29ADD-F2C6-419E-B747-3ED62F86C2AF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998CF-2CC7-407F-B50B-26CA76AD23D9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71373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09773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  <a:p>
            <a:r>
              <a:rPr lang="fr-CH" sz="1800" dirty="0" err="1"/>
              <a:t>Environement</a:t>
            </a:r>
            <a:r>
              <a:rPr lang="fr-CH" sz="1800" dirty="0"/>
              <a:t> </a:t>
            </a:r>
            <a:r>
              <a:rPr lang="fr-CH" sz="1800" b="1" u="sng" dirty="0"/>
              <a:t>SANS</a:t>
            </a:r>
            <a:r>
              <a:rPr lang="fr-CH" sz="1800" dirty="0"/>
              <a:t> </a:t>
            </a:r>
            <a:r>
              <a:rPr lang="fr-CH" sz="1800" dirty="0" err="1"/>
              <a:t>GitJournal</a:t>
            </a:r>
            <a:endParaRPr lang="fr-CH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18570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Utilisation de GitHub pour le </a:t>
            </a:r>
            <a:r>
              <a:rPr lang="fr-CH" dirty="0" err="1"/>
              <a:t>versionning</a:t>
            </a:r>
            <a:endParaRPr lang="fr-CH" dirty="0"/>
          </a:p>
          <a:p>
            <a:endParaRPr lang="fr-CH" dirty="0"/>
          </a:p>
          <a:p>
            <a:r>
              <a:rPr lang="fr-CH" dirty="0"/>
              <a:t>JDT à faire à coté (via </a:t>
            </a:r>
            <a:r>
              <a:rPr lang="fr-CH" dirty="0" err="1"/>
              <a:t>exel</a:t>
            </a:r>
            <a:r>
              <a:rPr lang="fr-CH" dirty="0"/>
              <a:t> pour moi)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96517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  <a:p>
            <a:r>
              <a:rPr lang="fr-CH" sz="1200" dirty="0" err="1"/>
              <a:t>Environement</a:t>
            </a:r>
            <a:r>
              <a:rPr lang="fr-CH" sz="1200" dirty="0"/>
              <a:t> </a:t>
            </a:r>
            <a:r>
              <a:rPr lang="fr-CH" sz="1200" b="1" u="sng" dirty="0"/>
              <a:t>AVEC</a:t>
            </a:r>
            <a:r>
              <a:rPr lang="fr-CH" sz="1200" dirty="0"/>
              <a:t> </a:t>
            </a:r>
            <a:r>
              <a:rPr lang="fr-CH" sz="1200" dirty="0" err="1"/>
              <a:t>GitJournal</a:t>
            </a:r>
            <a:endParaRPr lang="fr-CH" sz="1200" dirty="0"/>
          </a:p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4270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  <a:p>
            <a:r>
              <a:rPr lang="fr-CH" dirty="0"/>
              <a:t>Projet : </a:t>
            </a:r>
            <a:r>
              <a:rPr lang="fr-CH" b="1" dirty="0" err="1"/>
              <a:t>GitJournal</a:t>
            </a:r>
            <a:endParaRPr lang="fr-CH" b="1" dirty="0"/>
          </a:p>
          <a:p>
            <a:endParaRPr lang="fr-CH" dirty="0"/>
          </a:p>
          <a:p>
            <a:r>
              <a:rPr lang="fr-CH" b="1" dirty="0"/>
              <a:t>Gain de temp</a:t>
            </a:r>
          </a:p>
          <a:p>
            <a:r>
              <a:rPr lang="fr-CH" dirty="0"/>
              <a:t>Utilise les </a:t>
            </a:r>
            <a:r>
              <a:rPr lang="fr-CH" dirty="0" err="1"/>
              <a:t>commits</a:t>
            </a:r>
            <a:r>
              <a:rPr lang="fr-CH" dirty="0"/>
              <a:t> pour faire un JDT (</a:t>
            </a:r>
            <a:r>
              <a:rPr lang="fr-CH" dirty="0" err="1"/>
              <a:t>demmande</a:t>
            </a:r>
            <a:r>
              <a:rPr lang="fr-CH" dirty="0"/>
              <a:t> </a:t>
            </a:r>
            <a:r>
              <a:rPr lang="fr-CH" dirty="0" err="1"/>
              <a:t>régualrité</a:t>
            </a:r>
            <a:r>
              <a:rPr lang="fr-CH" dirty="0"/>
              <a:t>)</a:t>
            </a:r>
          </a:p>
          <a:p>
            <a:endParaRPr lang="fr-CH" dirty="0"/>
          </a:p>
          <a:p>
            <a:r>
              <a:rPr lang="fr-CH" b="1" dirty="0"/>
              <a:t>Modification</a:t>
            </a:r>
          </a:p>
          <a:p>
            <a:r>
              <a:rPr lang="fr-CH" b="0" dirty="0"/>
              <a:t>Permet de modifier le JDT pour fixer les bugs/erreurs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17755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b="1" dirty="0" err="1"/>
              <a:t>GitJournal</a:t>
            </a:r>
            <a:endParaRPr lang="fr-CH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33421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Aperçu de l’app </a:t>
            </a:r>
            <a:r>
              <a:rPr lang="fr-CH" b="1" dirty="0"/>
              <a:t>PAS CONNECTE</a:t>
            </a:r>
          </a:p>
          <a:p>
            <a:endParaRPr lang="fr-CH" dirty="0"/>
          </a:p>
          <a:p>
            <a:endParaRPr lang="fr-CH" dirty="0"/>
          </a:p>
          <a:p>
            <a:r>
              <a:rPr lang="fr-CH" b="1" dirty="0"/>
              <a:t>TRANSTION</a:t>
            </a:r>
          </a:p>
          <a:p>
            <a:endParaRPr lang="fr-CH" b="1" dirty="0"/>
          </a:p>
          <a:p>
            <a:r>
              <a:rPr lang="fr-CH" b="0" dirty="0"/>
              <a:t>Pas d’information, </a:t>
            </a:r>
            <a:r>
              <a:rPr lang="fr-CH" b="0" dirty="0" err="1"/>
              <a:t>Coment</a:t>
            </a:r>
            <a:r>
              <a:rPr lang="fr-CH" b="0" dirty="0"/>
              <a:t> en obtenir ? -&gt; PAT(</a:t>
            </a:r>
            <a:r>
              <a:rPr lang="fr-CH" b="0" dirty="0" err="1"/>
              <a:t>next</a:t>
            </a:r>
            <a:r>
              <a:rPr lang="fr-CH" b="0" dirty="0"/>
              <a:t> slide)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44162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D38A-EC76-2716-39F1-DC8333F8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98990-9BE2-BFA0-275E-E105B08CC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EFDA3-6424-D1B2-1699-4A336C69E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Guide pour le PAT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3A4E1-35C1-C8E4-E2E7-862E60239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70334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Comment </a:t>
            </a:r>
            <a:r>
              <a:rPr lang="fr-CH" dirty="0" err="1"/>
              <a:t>GitJournal</a:t>
            </a:r>
            <a:r>
              <a:rPr lang="fr-CH" dirty="0"/>
              <a:t> Gere le PAT</a:t>
            </a:r>
          </a:p>
          <a:p>
            <a:endParaRPr lang="fr-CH" dirty="0"/>
          </a:p>
          <a:p>
            <a:pPr marL="228600" indent="-228600">
              <a:buAutoNum type="arabicPeriod"/>
            </a:pPr>
            <a:r>
              <a:rPr lang="fr-CH" dirty="0"/>
              <a:t>Générer le PAT</a:t>
            </a:r>
          </a:p>
          <a:p>
            <a:pPr marL="228600" indent="-228600">
              <a:buAutoNum type="arabicPeriod"/>
            </a:pPr>
            <a:r>
              <a:rPr lang="fr-CH" dirty="0"/>
              <a:t>Le donner à </a:t>
            </a:r>
            <a:r>
              <a:rPr lang="fr-CH" dirty="0" err="1"/>
              <a:t>GitJournal</a:t>
            </a:r>
            <a:endParaRPr lang="fr-CH" dirty="0"/>
          </a:p>
          <a:p>
            <a:pPr marL="228600" indent="-228600">
              <a:buAutoNum type="arabicPeriod"/>
            </a:pPr>
            <a:r>
              <a:rPr lang="fr-CH" dirty="0"/>
              <a:t>Connecter l’utilisateur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6127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9579B-D492-29DE-1C3F-6B377D2C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9513E-B612-D2C5-EF82-12454728A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E01CA-4887-BBBB-AE30-E2D197378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/>
              <a:t>Aperçu de l’app CONNECTE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6053E-671C-394A-C788-AA8CD328B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87211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Affichage du JDT dans l’app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52566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Affichage du JDT dans le 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83581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Comment </a:t>
            </a:r>
            <a:r>
              <a:rPr lang="fr-CH" dirty="0" err="1"/>
              <a:t>GitJournal</a:t>
            </a:r>
            <a:r>
              <a:rPr lang="fr-CH" dirty="0"/>
              <a:t> Fonction techniquement parlent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999410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Le PAT est utilisé pour gérer les Repo et plus encore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62514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Tous les paramètres du PAT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38267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Celui qui est utile</a:t>
            </a:r>
          </a:p>
          <a:p>
            <a:endParaRPr lang="fr-CH" dirty="0"/>
          </a:p>
          <a:p>
            <a:r>
              <a:rPr lang="fr-CH" b="1" dirty="0"/>
              <a:t>GESTION DES REPOS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27621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Les </a:t>
            </a:r>
            <a:r>
              <a:rPr lang="fr-CH" dirty="0" err="1"/>
              <a:t>commits</a:t>
            </a:r>
            <a:r>
              <a:rPr lang="fr-CH" dirty="0"/>
              <a:t> sont </a:t>
            </a:r>
            <a:r>
              <a:rPr lang="fr-CH" dirty="0" err="1"/>
              <a:t>stoqué</a:t>
            </a:r>
            <a:r>
              <a:rPr lang="fr-CH" dirty="0"/>
              <a:t> dans un fichier </a:t>
            </a:r>
            <a:r>
              <a:rPr lang="fr-CH" dirty="0" err="1"/>
              <a:t>gitJ</a:t>
            </a:r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19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81354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Explication du fonctionnement de GITJOURNAL</a:t>
            </a:r>
          </a:p>
          <a:p>
            <a:endParaRPr lang="fr-CH" dirty="0"/>
          </a:p>
          <a:p>
            <a:r>
              <a:rPr lang="fr-CH" dirty="0"/>
              <a:t>Exemple sur une ligne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1350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Cette entrée par exemple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35736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48FB6-B984-9245-88F9-AE2E3B2F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0B140-5695-AC1A-B83A-60C1C61DC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8C75E-0E03-1877-F083-D113BCFFE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Pour 1 commit, ça ressemble à ça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93480-31D4-5409-B5DB-12ED47DA8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12554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/>
              <a:t>Titre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16703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/>
              <a:t>Contenu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8374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 err="1"/>
              <a:t>Status</a:t>
            </a:r>
            <a:r>
              <a:rPr lang="fr-CH" b="1" dirty="0"/>
              <a:t> (</a:t>
            </a:r>
            <a:r>
              <a:rPr lang="fr-CH" b="1" dirty="0" err="1"/>
              <a:t>done</a:t>
            </a:r>
            <a:r>
              <a:rPr lang="fr-CH" b="1" dirty="0"/>
              <a:t>/</a:t>
            </a:r>
            <a:r>
              <a:rPr lang="fr-CH" b="1" dirty="0" err="1"/>
              <a:t>wip</a:t>
            </a:r>
            <a:r>
              <a:rPr lang="fr-CH" b="1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416554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/>
              <a:t>Durée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20119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71B47-E935-AF99-B36F-827A2B78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31C1D-8070-DA82-6535-E3996A013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9934C-4088-49FC-D865-6C425C48A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/>
              <a:t>ID</a:t>
            </a:r>
          </a:p>
          <a:p>
            <a:endParaRPr lang="fr-CH" b="1" dirty="0"/>
          </a:p>
          <a:p>
            <a:r>
              <a:rPr lang="fr-CH" b="1" dirty="0"/>
              <a:t>Utilisé comme clé primaire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886D5-06AD-9A62-4060-E0220DD95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511513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Pour le PDF</a:t>
            </a:r>
          </a:p>
          <a:p>
            <a:endParaRPr lang="fr-CH" dirty="0"/>
          </a:p>
          <a:p>
            <a:r>
              <a:rPr lang="fr-CH" dirty="0"/>
              <a:t>Même fonctionnement de dans l’app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495477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 err="1"/>
              <a:t>Apérçu</a:t>
            </a:r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29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522274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Organisation Du Projet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30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697134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Agile</a:t>
            </a:r>
          </a:p>
          <a:p>
            <a:endParaRPr lang="fr-CH" dirty="0"/>
          </a:p>
          <a:p>
            <a:r>
              <a:rPr lang="fr-CH" b="1" dirty="0"/>
              <a:t>Chef de projet (validation user stories)</a:t>
            </a:r>
          </a:p>
          <a:p>
            <a:endParaRPr lang="fr-CH" dirty="0"/>
          </a:p>
          <a:p>
            <a:r>
              <a:rPr lang="fr-CH" b="1" dirty="0"/>
              <a:t>Sprint (2) ~2 semaines</a:t>
            </a:r>
          </a:p>
          <a:p>
            <a:endParaRPr lang="fr-CH" b="1" dirty="0"/>
          </a:p>
          <a:p>
            <a:r>
              <a:rPr lang="fr-CH" b="1" dirty="0"/>
              <a:t>User 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31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076429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b="1" dirty="0"/>
              <a:t>Cahier des charges </a:t>
            </a:r>
          </a:p>
          <a:p>
            <a:r>
              <a:rPr lang="fr-CH" dirty="0"/>
              <a:t>Vs</a:t>
            </a:r>
          </a:p>
          <a:p>
            <a:r>
              <a:rPr lang="fr-CH" b="1" dirty="0"/>
              <a:t>Planifié</a:t>
            </a:r>
          </a:p>
          <a:p>
            <a:r>
              <a:rPr lang="fr-CH" dirty="0"/>
              <a:t>Vs</a:t>
            </a:r>
          </a:p>
          <a:p>
            <a:r>
              <a:rPr lang="fr-CH" b="1" dirty="0"/>
              <a:t>Fait</a:t>
            </a:r>
          </a:p>
          <a:p>
            <a:endParaRPr lang="fr-CH" b="1" dirty="0"/>
          </a:p>
          <a:p>
            <a:endParaRPr lang="fr-CH" b="1" dirty="0"/>
          </a:p>
          <a:p>
            <a:r>
              <a:rPr lang="fr-CH" b="1" dirty="0"/>
              <a:t>Implémentation </a:t>
            </a:r>
            <a:r>
              <a:rPr lang="fr-CH" b="1" dirty="0" err="1"/>
              <a:t>suréstimée</a:t>
            </a:r>
            <a:endParaRPr lang="fr-CH" b="1" dirty="0"/>
          </a:p>
          <a:p>
            <a:endParaRPr lang="fr-CH" b="1" dirty="0"/>
          </a:p>
          <a:p>
            <a:r>
              <a:rPr lang="fr-CH" b="1" dirty="0"/>
              <a:t>Doc sous-estimée</a:t>
            </a:r>
          </a:p>
          <a:p>
            <a:endParaRPr lang="fr-CH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32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562828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App utilisées</a:t>
            </a:r>
          </a:p>
          <a:p>
            <a:endParaRPr lang="fr-CH" dirty="0"/>
          </a:p>
          <a:p>
            <a:r>
              <a:rPr lang="fr-CH" dirty="0"/>
              <a:t>Vs Code 2024 	(code)</a:t>
            </a:r>
          </a:p>
          <a:p>
            <a:r>
              <a:rPr lang="fr-CH" dirty="0"/>
              <a:t>Suite office 	(doc)</a:t>
            </a:r>
          </a:p>
          <a:p>
            <a:r>
              <a:rPr lang="fr-CH" dirty="0"/>
              <a:t>GitHub 	(versioning &amp; releases)</a:t>
            </a:r>
          </a:p>
          <a:p>
            <a:r>
              <a:rPr lang="fr-CH" dirty="0"/>
              <a:t>Draw.io 	(schémas)</a:t>
            </a:r>
          </a:p>
          <a:p>
            <a:r>
              <a:rPr lang="fr-CH" dirty="0" err="1"/>
              <a:t>Figma</a:t>
            </a:r>
            <a:r>
              <a:rPr lang="fr-CH" dirty="0"/>
              <a:t>	(Maquettes)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33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938503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Bug des liens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35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677207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Pas de Tab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36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532817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30786-0AE4-FFF6-DDCA-3D978690F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C1B9E-8415-8C96-FC7C-D8D8295D1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0426E-E3EE-169B-420A-94CDF77CA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Au début  </a:t>
            </a:r>
            <a:r>
              <a:rPr lang="fr-CH" b="1" dirty="0"/>
              <a:t>IText7</a:t>
            </a:r>
          </a:p>
          <a:p>
            <a:endParaRPr lang="fr-CH" b="1" dirty="0"/>
          </a:p>
          <a:p>
            <a:r>
              <a:rPr lang="fr-CH" b="0" dirty="0"/>
              <a:t>Finalement </a:t>
            </a:r>
            <a:r>
              <a:rPr lang="fr-CH" b="1" dirty="0" err="1"/>
              <a:t>PdfSharpCore</a:t>
            </a:r>
            <a:endParaRPr lang="fr-CH" b="1" dirty="0"/>
          </a:p>
          <a:p>
            <a:endParaRPr lang="fr-CH" b="1" dirty="0"/>
          </a:p>
          <a:p>
            <a:r>
              <a:rPr lang="fr-CH" b="1" dirty="0"/>
              <a:t>Perte de temp </a:t>
            </a:r>
            <a:r>
              <a:rPr lang="fr-CH" b="0" dirty="0"/>
              <a:t>dû à des </a:t>
            </a:r>
            <a:r>
              <a:rPr lang="fr-CH" b="1" dirty="0"/>
              <a:t>recherches no suffisantes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336F3-6259-2AD0-A99D-16B3CC130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37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793138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Au 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38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315710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Améliorations:</a:t>
            </a:r>
          </a:p>
          <a:p>
            <a:endParaRPr lang="fr-CH" dirty="0"/>
          </a:p>
          <a:p>
            <a:r>
              <a:rPr lang="fr-CH" b="1" dirty="0"/>
              <a:t>Sécuriser le PAT</a:t>
            </a:r>
          </a:p>
          <a:p>
            <a:endParaRPr lang="fr-CH" b="1" dirty="0"/>
          </a:p>
          <a:p>
            <a:r>
              <a:rPr lang="fr-CH" b="1" dirty="0"/>
              <a:t>Gérer les entrées supprimées</a:t>
            </a:r>
          </a:p>
          <a:p>
            <a:endParaRPr lang="fr-CH" b="1" dirty="0"/>
          </a:p>
          <a:p>
            <a:r>
              <a:rPr lang="fr-CH" b="1" dirty="0"/>
              <a:t>Choisir quand le JDT commence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39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59139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Bilan Personnel</a:t>
            </a:r>
          </a:p>
          <a:p>
            <a:endParaRPr lang="fr-CH" dirty="0"/>
          </a:p>
          <a:p>
            <a:r>
              <a:rPr lang="fr-CH" b="0" dirty="0"/>
              <a:t>Déjà utilisé </a:t>
            </a:r>
            <a:r>
              <a:rPr lang="fr-CH" b="1" dirty="0"/>
              <a:t>l’API -&gt; Simple (ATTENTION PAGINATION)</a:t>
            </a:r>
          </a:p>
          <a:p>
            <a:endParaRPr lang="fr-CH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b="0" dirty="0"/>
              <a:t>Déjà utilisé </a:t>
            </a:r>
            <a:r>
              <a:rPr lang="fr-CH" b="1" dirty="0"/>
              <a:t>WPF -&gt; Simple (ATTENTION PAGINATION)</a:t>
            </a:r>
          </a:p>
          <a:p>
            <a:endParaRPr lang="fr-CH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b="0" dirty="0"/>
              <a:t>Jamais utilisé </a:t>
            </a:r>
            <a:r>
              <a:rPr lang="fr-CH" b="1" dirty="0"/>
              <a:t>Génération de PDF  -&gt; Pas si compliqué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40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263724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git status </a:t>
            </a:r>
          </a:p>
          <a:p>
            <a:r>
              <a:rPr lang="en-US" dirty="0"/>
              <a:t>show modified files in working directory, staged for your next commit </a:t>
            </a:r>
          </a:p>
          <a:p>
            <a:endParaRPr lang="en-US" dirty="0"/>
          </a:p>
          <a:p>
            <a:r>
              <a:rPr lang="en-US" b="1" dirty="0"/>
              <a:t>git add </a:t>
            </a:r>
            <a:r>
              <a:rPr lang="en-US" dirty="0"/>
              <a:t>[file] </a:t>
            </a:r>
          </a:p>
          <a:p>
            <a:r>
              <a:rPr lang="en-US" dirty="0"/>
              <a:t>add a file as it looks now to your next commit (stage) </a:t>
            </a:r>
          </a:p>
          <a:p>
            <a:endParaRPr lang="en-US" dirty="0"/>
          </a:p>
          <a:p>
            <a:r>
              <a:rPr lang="en-US" b="1" dirty="0"/>
              <a:t>git reset </a:t>
            </a:r>
            <a:r>
              <a:rPr lang="en-US" dirty="0"/>
              <a:t>[file] </a:t>
            </a:r>
          </a:p>
          <a:p>
            <a:r>
              <a:rPr lang="en-US" dirty="0" err="1"/>
              <a:t>unstage</a:t>
            </a:r>
            <a:r>
              <a:rPr lang="en-US" dirty="0"/>
              <a:t> a file while retaining the changes in working directory </a:t>
            </a:r>
          </a:p>
          <a:p>
            <a:endParaRPr lang="en-US" dirty="0"/>
          </a:p>
          <a:p>
            <a:r>
              <a:rPr lang="en-US" b="1" dirty="0"/>
              <a:t>git diff </a:t>
            </a:r>
          </a:p>
          <a:p>
            <a:r>
              <a:rPr lang="en-US" dirty="0"/>
              <a:t>diff of what is changed but not staged </a:t>
            </a:r>
          </a:p>
          <a:p>
            <a:endParaRPr lang="en-US" dirty="0"/>
          </a:p>
          <a:p>
            <a:r>
              <a:rPr lang="en-US" b="1" dirty="0"/>
              <a:t>git commit </a:t>
            </a:r>
            <a:r>
              <a:rPr lang="en-US" dirty="0"/>
              <a:t>-m “[descriptive message]” </a:t>
            </a:r>
          </a:p>
          <a:p>
            <a:r>
              <a:rPr lang="en-US" dirty="0"/>
              <a:t>commit your staged content as a new commit snapshot</a:t>
            </a:r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4998CF-2CC7-407F-B50B-26CA76AD23D9}" type="slidenum">
              <a:rPr lang="fr-CH" smtClean="0"/>
              <a:t>41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3269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182B1-B344-BE29-83A0-A95EC423B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7FBCD96-7A65-27F1-569F-9EBF47223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6290F3-31EE-271B-269C-50041AF7C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5C6B3B-02E5-027F-24F2-E84F5215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868106-3B67-D12A-6657-5CA6E36E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609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EAA9D9-41E7-03EC-556D-40CFB5FBB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CC289B-B224-4706-91AC-61ED263ED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82D50A-013F-1D66-1591-BA8D7AE4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DF22AD-82DB-EB00-CAD6-17D52C15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1C4E3F-FDE6-29FD-CC97-FE41F26C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62973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464A2-F753-6ACC-E196-6F1500C09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5BA1B9-E219-D1BA-5CE1-7E0C7486E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F3866E-A419-7FCC-6700-8976FEFE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8DA32D-F0D4-1B3F-7B39-B8A262F9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60BFE4-F353-2182-18EE-B820909D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93973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8D6FF1-8411-EE24-642B-AB7274E8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C96C14-7BFE-68F1-4260-71DD45874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6A0B05-2B6A-DBEF-72AD-AD9297BEB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0B2664-F3ED-9482-B8DC-E30E8810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D163CD-0FDA-DBE4-B70B-5B483B59D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DB280C-4490-8336-494E-FFCD27F4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94491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9B0DD6-E568-D096-5EE0-41AA2C98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38754-4C73-8C0D-23E6-1BF8B9D9C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D914FF-FCED-0048-85C3-DE5FBD92C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643CD5-5521-192D-703A-62A76CD4E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0785EE0-C104-1105-6D56-454E96175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2EBB912-0DF8-8A61-0176-2F477FC7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94DE8CC-5EFB-FD2E-4C0E-CEB65094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9857BBB-2713-AFFA-80C3-EC1A018E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01432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F7E08B-C997-1B96-8575-7453284FE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EA6426F-6C36-F1A7-0C07-4AC9A9F7F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77A6233-AC5D-3080-2D3F-2CA51F15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58B27E2-4F02-A276-E237-FAB02914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92973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92CDFD9-5EF0-85C6-B28C-D84CA1F6F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BD24BD6-18B0-C584-9722-64C9ED15F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BFE614-BBDD-722C-B9FF-207ABA98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57290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15A35-51ED-E1A4-8D66-F255F7928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22AA63-21AF-A0BF-EC41-88EF29949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13C69E-4F09-5A6D-134B-8131390D3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381B00-1E22-85AC-6912-568ABA077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8FC2EA-2A7F-BE46-707F-2E635FBD9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9E9D61-D8AA-7545-9087-93C35E0B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941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BE3A2C-4B22-1ED6-03A8-597FBDD2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4D580A0-9A67-873C-8B11-3E562FE16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0D432D-3365-335F-021A-1AE2750B0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8F1A48C-33FF-C8D3-131E-D81D6D7F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B37D69-DE84-19B7-126A-3E0664D6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5882FB-D74D-5830-4CF6-7A0FD919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6307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58C748-8630-B824-8DA9-C96D1BD2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BB31D8-A616-FAC9-B2CA-D444B4FE9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0A88DF-5FAB-0640-DEE9-32B260F81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CE7746-D08E-292B-3C22-642DC98C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03EC5A-CD21-D2C5-39F7-BCD7CF42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84120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E6C8D96-D8DF-6CEB-3B66-37CC332AA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CA81510-7378-6C92-856F-79C7A70E7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7624BA-DE93-38A9-1922-5F4473E3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3C52BB-99CD-0E03-088C-50026290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F3D9E6-35BE-095E-D884-CFDEE348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470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BE70792-38DF-AF61-97DB-503F23BB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309B79-7C6D-625F-67DD-70EC0BA49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4D10A7-1255-1B32-D08E-28D963F68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77B45-7531-4D1E-BD1F-5B6E5E6DE910}" type="datetimeFigureOut">
              <a:rPr lang="fr-CH" smtClean="0"/>
              <a:t>10.06.2025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F0C823-2377-4ED2-D4FF-A9CBF97C3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2D78B3-505A-C88B-B741-815233CB1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56460-FFED-48E0-BE97-396C9E46B127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4765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8.png"/><Relationship Id="rId5" Type="http://schemas.openxmlformats.org/officeDocument/2006/relationships/image" Target="../media/image28.png"/><Relationship Id="rId10" Type="http://schemas.openxmlformats.org/officeDocument/2006/relationships/image" Target="../media/image11.png"/><Relationship Id="rId4" Type="http://schemas.openxmlformats.org/officeDocument/2006/relationships/image" Target="../media/image27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3.png"/><Relationship Id="rId7" Type="http://schemas.microsoft.com/office/2007/relationships/hdphoto" Target="../media/hdphoto1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8.png"/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40.png"/><Relationship Id="rId5" Type="http://schemas.openxmlformats.org/officeDocument/2006/relationships/image" Target="../media/image14.png"/><Relationship Id="rId10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38.png"/><Relationship Id="rId1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8.png"/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40.png"/><Relationship Id="rId5" Type="http://schemas.openxmlformats.org/officeDocument/2006/relationships/image" Target="../media/image14.png"/><Relationship Id="rId10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38.png"/><Relationship Id="rId1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8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16.png"/><Relationship Id="rId9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5.png"/><Relationship Id="rId9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5.png"/><Relationship Id="rId10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5.png"/><Relationship Id="rId10" Type="http://schemas.openxmlformats.org/officeDocument/2006/relationships/image" Target="../media/image32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3.png"/><Relationship Id="rId4" Type="http://schemas.openxmlformats.org/officeDocument/2006/relationships/image" Target="../media/image35.png"/><Relationship Id="rId9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4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10" Type="http://schemas.openxmlformats.org/officeDocument/2006/relationships/image" Target="../media/image8.png"/><Relationship Id="rId4" Type="http://schemas.openxmlformats.org/officeDocument/2006/relationships/image" Target="../media/image45.png"/><Relationship Id="rId9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8.png"/><Relationship Id="rId5" Type="http://schemas.openxmlformats.org/officeDocument/2006/relationships/image" Target="../media/image47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0.png"/><Relationship Id="rId7" Type="http://schemas.openxmlformats.org/officeDocument/2006/relationships/image" Target="../media/image4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8.png"/><Relationship Id="rId10" Type="http://schemas.openxmlformats.org/officeDocument/2006/relationships/image" Target="../media/image51.png"/><Relationship Id="rId4" Type="http://schemas.openxmlformats.org/officeDocument/2006/relationships/image" Target="../media/image11.png"/><Relationship Id="rId9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Relationship Id="rId9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Relationship Id="rId9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noir, obscurité, noir et blanc, monochrome&#10;&#10;Description générée automatiquement">
            <a:extLst>
              <a:ext uri="{FF2B5EF4-FFF2-40B4-BE49-F238E27FC236}">
                <a16:creationId xmlns:a16="http://schemas.microsoft.com/office/drawing/2014/main" id="{8E55500A-0033-116F-9BE0-C9976B394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524" y="1458000"/>
            <a:ext cx="1513476" cy="5400000"/>
          </a:xfrm>
          <a:prstGeom prst="rect">
            <a:avLst/>
          </a:prstGeom>
        </p:spPr>
      </p:pic>
      <p:pic>
        <p:nvPicPr>
          <p:cNvPr id="9" name="Image 8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AB71FBF5-7F21-9BBA-D6DD-93558DF48E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9453" cy="540000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4BACEEB-F4B4-982D-81CB-EB95C40AED5C}"/>
              </a:ext>
            </a:extLst>
          </p:cNvPr>
          <p:cNvSpPr txBox="1"/>
          <p:nvPr/>
        </p:nvSpPr>
        <p:spPr>
          <a:xfrm>
            <a:off x="4377781" y="5160427"/>
            <a:ext cx="34364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400" dirty="0"/>
              <a:t>Morgan Dussault</a:t>
            </a:r>
          </a:p>
          <a:p>
            <a:pPr algn="ctr"/>
            <a:r>
              <a:rPr lang="fr-CH" sz="2400" dirty="0"/>
              <a:t>11.06.2025</a:t>
            </a:r>
          </a:p>
        </p:txBody>
      </p:sp>
      <p:pic>
        <p:nvPicPr>
          <p:cNvPr id="20" name="Image 19" descr="Une image contenant Police, noir, capture d’écran, Graphique&#10;&#10;Description générée automatiquement">
            <a:extLst>
              <a:ext uri="{FF2B5EF4-FFF2-40B4-BE49-F238E27FC236}">
                <a16:creationId xmlns:a16="http://schemas.microsoft.com/office/drawing/2014/main" id="{81C34B8E-423C-E40B-4DBE-39BE2CBC12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89" b="29716"/>
          <a:stretch/>
        </p:blipFill>
        <p:spPr>
          <a:xfrm>
            <a:off x="2667000" y="1771251"/>
            <a:ext cx="6858000" cy="3010300"/>
          </a:xfrm>
          <a:prstGeom prst="rect">
            <a:avLst/>
          </a:prstGeom>
        </p:spPr>
      </p:pic>
      <p:pic>
        <p:nvPicPr>
          <p:cNvPr id="22" name="Image 21" descr="Une image contenant symbole, Graphique, dessin humoristique&#10;&#10;Description générée automatiquement">
            <a:extLst>
              <a:ext uri="{FF2B5EF4-FFF2-40B4-BE49-F238E27FC236}">
                <a16:creationId xmlns:a16="http://schemas.microsoft.com/office/drawing/2014/main" id="{01C5B55C-925D-486C-642D-2985C67E322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06"/>
          <a:stretch/>
        </p:blipFill>
        <p:spPr>
          <a:xfrm>
            <a:off x="2667000" y="-38500"/>
            <a:ext cx="68580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7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4A940058-F0DA-8D75-805B-0BC5A83AF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8" name="Image 17" descr="Une image contenant noir, obscurité, capture d’écran&#10;&#10;Description générée automatiquement">
            <a:extLst>
              <a:ext uri="{FF2B5EF4-FFF2-40B4-BE49-F238E27FC236}">
                <a16:creationId xmlns:a16="http://schemas.microsoft.com/office/drawing/2014/main" id="{B41868A2-CFBC-0F12-9859-4E8194002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000" cy="1513477"/>
          </a:xfrm>
          <a:prstGeom prst="rect">
            <a:avLst/>
          </a:prstGeom>
        </p:spPr>
      </p:pic>
      <p:sp>
        <p:nvSpPr>
          <p:cNvPr id="22" name="Titre 1">
            <a:extLst>
              <a:ext uri="{FF2B5EF4-FFF2-40B4-BE49-F238E27FC236}">
                <a16:creationId xmlns:a16="http://schemas.microsoft.com/office/drawing/2014/main" id="{35221D8A-DF02-91DD-ABEA-55650EA50527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SOMMAIRE</a:t>
            </a:r>
          </a:p>
        </p:txBody>
      </p:sp>
      <p:pic>
        <p:nvPicPr>
          <p:cNvPr id="41" name="Image 4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500BF76-64E2-F8EE-30F5-6BABBF9668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138" y="1923575"/>
            <a:ext cx="2327848" cy="4267722"/>
          </a:xfrm>
          <a:prstGeom prst="rect">
            <a:avLst/>
          </a:prstGeom>
        </p:spPr>
      </p:pic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494A8E33-890E-EE7D-B7AB-22398765062A}"/>
              </a:ext>
            </a:extLst>
          </p:cNvPr>
          <p:cNvSpPr/>
          <p:nvPr/>
        </p:nvSpPr>
        <p:spPr>
          <a:xfrm>
            <a:off x="3285518" y="1960599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CONTEXTE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951224E6-F853-9E19-90DF-45EE5E33F235}"/>
              </a:ext>
            </a:extLst>
          </p:cNvPr>
          <p:cNvSpPr/>
          <p:nvPr/>
        </p:nvSpPr>
        <p:spPr>
          <a:xfrm>
            <a:off x="3285335" y="2484266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SITUER PRODUIT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BE1A6443-104B-E157-6A7F-9B700FC0BBFF}"/>
              </a:ext>
            </a:extLst>
          </p:cNvPr>
          <p:cNvSpPr/>
          <p:nvPr/>
        </p:nvSpPr>
        <p:spPr>
          <a:xfrm>
            <a:off x="3285335" y="3009067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PRODUIT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C29A3E12-82C6-7A0A-B871-A77593A2E226}"/>
              </a:ext>
            </a:extLst>
          </p:cNvPr>
          <p:cNvSpPr/>
          <p:nvPr/>
        </p:nvSpPr>
        <p:spPr>
          <a:xfrm>
            <a:off x="3285335" y="3533054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FONCTIONEMENT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681C6710-5805-438F-D6D6-E58AEA8FE1EB}"/>
              </a:ext>
            </a:extLst>
          </p:cNvPr>
          <p:cNvSpPr/>
          <p:nvPr/>
        </p:nvSpPr>
        <p:spPr>
          <a:xfrm>
            <a:off x="3278199" y="4057041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ORGANISATION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5388A884-2E28-E56F-2544-8E7180226F43}"/>
              </a:ext>
            </a:extLst>
          </p:cNvPr>
          <p:cNvSpPr/>
          <p:nvPr/>
        </p:nvSpPr>
        <p:spPr>
          <a:xfrm>
            <a:off x="3278199" y="4587793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MOMENT CLE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384A6E3C-52C5-373F-E2C8-C1F4EEE1D19F}"/>
              </a:ext>
            </a:extLst>
          </p:cNvPr>
          <p:cNvSpPr/>
          <p:nvPr/>
        </p:nvSpPr>
        <p:spPr>
          <a:xfrm>
            <a:off x="3285335" y="5097973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BILAN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86442EE3-E2BD-DE0D-DB92-B3098A93FE4A}"/>
              </a:ext>
            </a:extLst>
          </p:cNvPr>
          <p:cNvSpPr/>
          <p:nvPr/>
        </p:nvSpPr>
        <p:spPr>
          <a:xfrm>
            <a:off x="3278199" y="5628725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QUESTIONS</a:t>
            </a:r>
          </a:p>
        </p:txBody>
      </p:sp>
      <p:pic>
        <p:nvPicPr>
          <p:cNvPr id="16" name="Image 15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D60C7177-C7F2-602D-D3DC-FFF916A84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586" y="1343731"/>
            <a:ext cx="430951" cy="430951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237C64FD-3945-4AA9-4AF1-1A55B8D50D03}"/>
              </a:ext>
            </a:extLst>
          </p:cNvPr>
          <p:cNvSpPr/>
          <p:nvPr/>
        </p:nvSpPr>
        <p:spPr>
          <a:xfrm>
            <a:off x="4273550" y="1513477"/>
            <a:ext cx="36449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0B7150A5-BB6D-E9A8-1A52-5F7D5FE72196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</p:spTree>
    <p:extLst>
      <p:ext uri="{BB962C8B-B14F-4D97-AF65-F5344CB8AC3E}">
        <p14:creationId xmlns:p14="http://schemas.microsoft.com/office/powerpoint/2010/main" val="153165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4A940058-F0DA-8D75-805B-0BC5A83AF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8" name="Image 17" descr="Une image contenant noir, obscurité, capture d’écran&#10;&#10;Description générée automatiquement">
            <a:extLst>
              <a:ext uri="{FF2B5EF4-FFF2-40B4-BE49-F238E27FC236}">
                <a16:creationId xmlns:a16="http://schemas.microsoft.com/office/drawing/2014/main" id="{B41868A2-CFBC-0F12-9859-4E8194002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000" cy="1513477"/>
          </a:xfrm>
          <a:prstGeom prst="rect">
            <a:avLst/>
          </a:prstGeom>
        </p:spPr>
      </p:pic>
      <p:sp>
        <p:nvSpPr>
          <p:cNvPr id="22" name="Titre 1">
            <a:extLst>
              <a:ext uri="{FF2B5EF4-FFF2-40B4-BE49-F238E27FC236}">
                <a16:creationId xmlns:a16="http://schemas.microsoft.com/office/drawing/2014/main" id="{35221D8A-DF02-91DD-ABEA-55650EA50527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SOMMAIRE</a:t>
            </a:r>
          </a:p>
        </p:txBody>
      </p:sp>
      <p:pic>
        <p:nvPicPr>
          <p:cNvPr id="41" name="Image 4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500BF76-64E2-F8EE-30F5-6BABBF9668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138" y="1923575"/>
            <a:ext cx="2327848" cy="4267722"/>
          </a:xfrm>
          <a:prstGeom prst="rect">
            <a:avLst/>
          </a:prstGeom>
        </p:spPr>
      </p:pic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494A8E33-890E-EE7D-B7AB-22398765062A}"/>
              </a:ext>
            </a:extLst>
          </p:cNvPr>
          <p:cNvSpPr/>
          <p:nvPr/>
        </p:nvSpPr>
        <p:spPr>
          <a:xfrm>
            <a:off x="3285518" y="1960599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CONTEXTE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951224E6-F853-9E19-90DF-45EE5E33F235}"/>
              </a:ext>
            </a:extLst>
          </p:cNvPr>
          <p:cNvSpPr/>
          <p:nvPr/>
        </p:nvSpPr>
        <p:spPr>
          <a:xfrm>
            <a:off x="3285335" y="2484266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SITUER PRODUIT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BE1A6443-104B-E157-6A7F-9B700FC0BBFF}"/>
              </a:ext>
            </a:extLst>
          </p:cNvPr>
          <p:cNvSpPr/>
          <p:nvPr/>
        </p:nvSpPr>
        <p:spPr>
          <a:xfrm>
            <a:off x="3285335" y="3009067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PRODUIT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C29A3E12-82C6-7A0A-B871-A77593A2E226}"/>
              </a:ext>
            </a:extLst>
          </p:cNvPr>
          <p:cNvSpPr/>
          <p:nvPr/>
        </p:nvSpPr>
        <p:spPr>
          <a:xfrm>
            <a:off x="3285335" y="3533054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FONCTIONEMENT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681C6710-5805-438F-D6D6-E58AEA8FE1EB}"/>
              </a:ext>
            </a:extLst>
          </p:cNvPr>
          <p:cNvSpPr/>
          <p:nvPr/>
        </p:nvSpPr>
        <p:spPr>
          <a:xfrm>
            <a:off x="3278199" y="4057041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ORGANISATION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5388A884-2E28-E56F-2544-8E7180226F43}"/>
              </a:ext>
            </a:extLst>
          </p:cNvPr>
          <p:cNvSpPr/>
          <p:nvPr/>
        </p:nvSpPr>
        <p:spPr>
          <a:xfrm>
            <a:off x="3278199" y="4587793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MOMENT CLE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384A6E3C-52C5-373F-E2C8-C1F4EEE1D19F}"/>
              </a:ext>
            </a:extLst>
          </p:cNvPr>
          <p:cNvSpPr/>
          <p:nvPr/>
        </p:nvSpPr>
        <p:spPr>
          <a:xfrm>
            <a:off x="3285335" y="5097973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BILAN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86442EE3-E2BD-DE0D-DB92-B3098A93FE4A}"/>
              </a:ext>
            </a:extLst>
          </p:cNvPr>
          <p:cNvSpPr/>
          <p:nvPr/>
        </p:nvSpPr>
        <p:spPr>
          <a:xfrm>
            <a:off x="3278199" y="5628725"/>
            <a:ext cx="5584802" cy="414167"/>
          </a:xfrm>
          <a:prstGeom prst="roundRect">
            <a:avLst>
              <a:gd name="adj" fmla="val 50000"/>
            </a:avLst>
          </a:prstGeom>
          <a:solidFill>
            <a:srgbClr val="FC81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000" b="1" dirty="0"/>
              <a:t>QUESTIONS</a:t>
            </a:r>
          </a:p>
        </p:txBody>
      </p:sp>
      <p:pic>
        <p:nvPicPr>
          <p:cNvPr id="16" name="Image 15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D60C7177-C7F2-602D-D3DC-FFF916A84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586" y="1343731"/>
            <a:ext cx="430951" cy="4309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295E64-1053-54E1-3681-0AAAECA5CB1D}"/>
              </a:ext>
            </a:extLst>
          </p:cNvPr>
          <p:cNvSpPr/>
          <p:nvPr/>
        </p:nvSpPr>
        <p:spPr>
          <a:xfrm>
            <a:off x="4273550" y="1513477"/>
            <a:ext cx="36449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AE11AB-F067-9B08-4268-5E06A77A1503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</p:spTree>
    <p:extLst>
      <p:ext uri="{BB962C8B-B14F-4D97-AF65-F5344CB8AC3E}">
        <p14:creationId xmlns:p14="http://schemas.microsoft.com/office/powerpoint/2010/main" val="1520310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023 L 0.00026 0.0886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léger, art&#10;&#10;Description générée automatiquement avec une confiance moyenne">
            <a:extLst>
              <a:ext uri="{FF2B5EF4-FFF2-40B4-BE49-F238E27FC236}">
                <a16:creationId xmlns:a16="http://schemas.microsoft.com/office/drawing/2014/main" id="{3ADEC4B8-74A8-6906-9E01-B000B284C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" y="0"/>
            <a:ext cx="4902969" cy="6858000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0C530001-B230-3D10-2F5F-9885472943F3}"/>
              </a:ext>
            </a:extLst>
          </p:cNvPr>
          <p:cNvSpPr txBox="1">
            <a:spLocks/>
          </p:cNvSpPr>
          <p:nvPr/>
        </p:nvSpPr>
        <p:spPr>
          <a:xfrm>
            <a:off x="1523999" y="2551970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CONTEXTE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966C44-41D5-C45F-990A-08B9FFDE7690}"/>
              </a:ext>
            </a:extLst>
          </p:cNvPr>
          <p:cNvSpPr/>
          <p:nvPr/>
        </p:nvSpPr>
        <p:spPr>
          <a:xfrm>
            <a:off x="4413250" y="3714844"/>
            <a:ext cx="33655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22DCA6C-3DD4-FC80-A8AA-5E3378FA52D1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18" name="Image 17" descr="Une image contenant capture d’écran, obscurité, noir, espace&#10;&#10;Description générée automatiquement">
            <a:extLst>
              <a:ext uri="{FF2B5EF4-FFF2-40B4-BE49-F238E27FC236}">
                <a16:creationId xmlns:a16="http://schemas.microsoft.com/office/drawing/2014/main" id="{76098BFA-D95F-59BA-D109-7303EC83E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968067" y="0"/>
            <a:ext cx="5249333" cy="6858000"/>
          </a:xfrm>
          <a:prstGeom prst="rect">
            <a:avLst/>
          </a:prstGeom>
        </p:spPr>
      </p:pic>
      <p:pic>
        <p:nvPicPr>
          <p:cNvPr id="2" name="Image 1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1A0869D6-E6AC-47B3-3A7D-A3047B37918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3" name="Image 2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187D02B7-418B-7205-6C55-162A5DD8DB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500" y="223319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30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noir, obscurité, noir et blanc, capture d’écran&#10;&#10;Description générée automatiquement">
            <a:extLst>
              <a:ext uri="{FF2B5EF4-FFF2-40B4-BE49-F238E27FC236}">
                <a16:creationId xmlns:a16="http://schemas.microsoft.com/office/drawing/2014/main" id="{0A0D8B72-0284-C392-CBE0-ADFC61A8A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3476" cy="5400000"/>
          </a:xfrm>
          <a:prstGeom prst="rect">
            <a:avLst/>
          </a:prstGeom>
        </p:spPr>
      </p:pic>
      <p:pic>
        <p:nvPicPr>
          <p:cNvPr id="9" name="Image 8" descr="Une image contenant ligne, symbole&#10;&#10;Description générée automatiquement">
            <a:extLst>
              <a:ext uri="{FF2B5EF4-FFF2-40B4-BE49-F238E27FC236}">
                <a16:creationId xmlns:a16="http://schemas.microsoft.com/office/drawing/2014/main" id="{CA523A26-3833-20F2-9B94-5318263901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7" y="1458000"/>
            <a:ext cx="2689453" cy="5400000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0C530001-B230-3D10-2F5F-9885472943F3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CONTEXTE</a:t>
            </a:r>
          </a:p>
        </p:txBody>
      </p:sp>
      <p:pic>
        <p:nvPicPr>
          <p:cNvPr id="23" name="Graphique 22">
            <a:extLst>
              <a:ext uri="{FF2B5EF4-FFF2-40B4-BE49-F238E27FC236}">
                <a16:creationId xmlns:a16="http://schemas.microsoft.com/office/drawing/2014/main" id="{183836DD-BC9F-3C6C-69BA-8DF578509D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596426" y="2359815"/>
            <a:ext cx="2125074" cy="2125074"/>
          </a:xfrm>
          <a:prstGeom prst="rect">
            <a:avLst/>
          </a:prstGeom>
        </p:spPr>
      </p:pic>
      <p:pic>
        <p:nvPicPr>
          <p:cNvPr id="25" name="Image 24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812DFDBD-D85D-8A81-C8B7-EFA584A2A1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546" y="2358707"/>
            <a:ext cx="2125074" cy="212507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6966C44-41D5-C45F-990A-08B9FFDE7690}"/>
              </a:ext>
            </a:extLst>
          </p:cNvPr>
          <p:cNvSpPr/>
          <p:nvPr/>
        </p:nvSpPr>
        <p:spPr>
          <a:xfrm>
            <a:off x="4413250" y="1509558"/>
            <a:ext cx="33655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22DCA6C-3DD4-FC80-A8AA-5E3378FA52D1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7" name="Image 6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14C155FD-F6C2-DD1A-2AC3-7A76F8DF38C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8" name="Image 7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0E3240F4-E055-0D7F-725B-C8CCD5EC8D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500" y="223319"/>
            <a:ext cx="281506" cy="2815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405CF7-1E77-6913-BFFA-D81D3B99004B}"/>
              </a:ext>
            </a:extLst>
          </p:cNvPr>
          <p:cNvSpPr txBox="1"/>
          <p:nvPr/>
        </p:nvSpPr>
        <p:spPr>
          <a:xfrm>
            <a:off x="2520725" y="4638663"/>
            <a:ext cx="2276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800" dirty="0"/>
              <a:t>GitHub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4DE75D-5990-47CA-3C89-3F64682F1E01}"/>
              </a:ext>
            </a:extLst>
          </p:cNvPr>
          <p:cNvSpPr txBox="1"/>
          <p:nvPr/>
        </p:nvSpPr>
        <p:spPr>
          <a:xfrm>
            <a:off x="7413845" y="4638663"/>
            <a:ext cx="2276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800" dirty="0"/>
              <a:t>JDT</a:t>
            </a:r>
          </a:p>
        </p:txBody>
      </p:sp>
    </p:spTree>
    <p:extLst>
      <p:ext uri="{BB962C8B-B14F-4D97-AF65-F5344CB8AC3E}">
        <p14:creationId xmlns:p14="http://schemas.microsoft.com/office/powerpoint/2010/main" val="112102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léger, art&#10;&#10;Description générée automatiquement avec une confiance moyenne">
            <a:extLst>
              <a:ext uri="{FF2B5EF4-FFF2-40B4-BE49-F238E27FC236}">
                <a16:creationId xmlns:a16="http://schemas.microsoft.com/office/drawing/2014/main" id="{3ADEC4B8-74A8-6906-9E01-B000B284C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" y="0"/>
            <a:ext cx="4902969" cy="6858000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0C530001-B230-3D10-2F5F-9885472943F3}"/>
              </a:ext>
            </a:extLst>
          </p:cNvPr>
          <p:cNvSpPr txBox="1">
            <a:spLocks/>
          </p:cNvSpPr>
          <p:nvPr/>
        </p:nvSpPr>
        <p:spPr>
          <a:xfrm>
            <a:off x="1523999" y="2551970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SITUER PRODUIT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22DCA6C-3DD4-FC80-A8AA-5E3378FA52D1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18" name="Image 17" descr="Une image contenant capture d’écran, obscurité, noir, espace&#10;&#10;Description générée automatiquement">
            <a:extLst>
              <a:ext uri="{FF2B5EF4-FFF2-40B4-BE49-F238E27FC236}">
                <a16:creationId xmlns:a16="http://schemas.microsoft.com/office/drawing/2014/main" id="{76098BFA-D95F-59BA-D109-7303EC83E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968067" y="0"/>
            <a:ext cx="5249333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9D46FC-24DB-4896-E2E7-7243120905AB}"/>
              </a:ext>
            </a:extLst>
          </p:cNvPr>
          <p:cNvSpPr/>
          <p:nvPr/>
        </p:nvSpPr>
        <p:spPr>
          <a:xfrm>
            <a:off x="3470274" y="3716927"/>
            <a:ext cx="525145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4" name="Image 3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2E8950D2-F5F0-8ECD-8419-F2AA4E1DF14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7" name="Image 6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11F7F2FC-78C1-C30D-34A0-4DCDAE2DC7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640" y="223319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15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ir, obscurité, capture d’écran, noir et blanc&#10;&#10;Description générée automatiquement">
            <a:extLst>
              <a:ext uri="{FF2B5EF4-FFF2-40B4-BE49-F238E27FC236}">
                <a16:creationId xmlns:a16="http://schemas.microsoft.com/office/drawing/2014/main" id="{80C7AD50-D8E4-DB05-D139-A11DEA068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0"/>
            <a:ext cx="1513476" cy="5400000"/>
          </a:xfrm>
          <a:prstGeom prst="rect">
            <a:avLst/>
          </a:prstGeom>
        </p:spPr>
      </p:pic>
      <p:pic>
        <p:nvPicPr>
          <p:cNvPr id="8" name="Image 7" descr="Une image contenant ligne, symbole&#10;&#10;Description générée automatiquement">
            <a:extLst>
              <a:ext uri="{FF2B5EF4-FFF2-40B4-BE49-F238E27FC236}">
                <a16:creationId xmlns:a16="http://schemas.microsoft.com/office/drawing/2014/main" id="{A748BF91-609C-9BCF-68D6-4EA9F006F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2689454" cy="5400000"/>
          </a:xfrm>
          <a:prstGeom prst="rect">
            <a:avLst/>
          </a:prstGeom>
        </p:spPr>
      </p:pic>
      <p:sp>
        <p:nvSpPr>
          <p:cNvPr id="12" name="Sous-titre 2">
            <a:extLst>
              <a:ext uri="{FF2B5EF4-FFF2-40B4-BE49-F238E27FC236}">
                <a16:creationId xmlns:a16="http://schemas.microsoft.com/office/drawing/2014/main" id="{B7D163EE-A4CF-88ED-D47E-1CA0B63ECD2D}"/>
              </a:ext>
            </a:extLst>
          </p:cNvPr>
          <p:cNvSpPr txBox="1">
            <a:spLocks/>
          </p:cNvSpPr>
          <p:nvPr/>
        </p:nvSpPr>
        <p:spPr>
          <a:xfrm>
            <a:off x="3936732" y="6607746"/>
            <a:ext cx="4318534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/>
              <a:t>Morgan Dussault		presentation_GitJournal_TPI.pptx</a:t>
            </a:r>
            <a:endParaRPr lang="fr-CH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B36D02-E996-EE47-8382-1B9D84B95FC8}"/>
              </a:ext>
            </a:extLst>
          </p:cNvPr>
          <p:cNvSpPr/>
          <p:nvPr/>
        </p:nvSpPr>
        <p:spPr>
          <a:xfrm>
            <a:off x="3470275" y="1507127"/>
            <a:ext cx="525145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Image 9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FA461AC4-5582-5B88-AC45-B2001940FA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7" name="Image 6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8E0F5EFD-D3D7-7AC7-0CAB-30C30AC738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640" y="223319"/>
            <a:ext cx="281506" cy="281506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09E2ADDB-7D27-6D10-71EB-A8A649B068EB}"/>
              </a:ext>
            </a:extLst>
          </p:cNvPr>
          <p:cNvSpPr txBox="1">
            <a:spLocks/>
          </p:cNvSpPr>
          <p:nvPr/>
        </p:nvSpPr>
        <p:spPr>
          <a:xfrm>
            <a:off x="1523999" y="304070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SITUER PRODUIT</a:t>
            </a:r>
          </a:p>
        </p:txBody>
      </p:sp>
      <p:pic>
        <p:nvPicPr>
          <p:cNvPr id="11" name="Picture 10" descr="A logo of a book&#10;&#10;AI-generated content may be incorrect.">
            <a:extLst>
              <a:ext uri="{FF2B5EF4-FFF2-40B4-BE49-F238E27FC236}">
                <a16:creationId xmlns:a16="http://schemas.microsoft.com/office/drawing/2014/main" id="{88C768CE-8DA6-A581-47FE-21E1B51AA7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413" y="2705239"/>
            <a:ext cx="1800319" cy="1764000"/>
          </a:xfrm>
          <a:prstGeom prst="rect">
            <a:avLst/>
          </a:prstGeom>
        </p:spPr>
      </p:pic>
      <p:pic>
        <p:nvPicPr>
          <p:cNvPr id="14" name="Picture 13" descr="A orange and black logo&#10;&#10;AI-generated content may be incorrect.">
            <a:extLst>
              <a:ext uri="{FF2B5EF4-FFF2-40B4-BE49-F238E27FC236}">
                <a16:creationId xmlns:a16="http://schemas.microsoft.com/office/drawing/2014/main" id="{7A887E51-11D0-4BC7-D273-84C9BD47B0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395" y="2516239"/>
            <a:ext cx="2142000" cy="2142000"/>
          </a:xfrm>
          <a:prstGeom prst="rect">
            <a:avLst/>
          </a:prstGeom>
        </p:spPr>
      </p:pic>
      <p:pic>
        <p:nvPicPr>
          <p:cNvPr id="16" name="Picture 15" descr="A clock and gear with a black background&#10;&#10;AI-generated content may be incorrect.">
            <a:extLst>
              <a:ext uri="{FF2B5EF4-FFF2-40B4-BE49-F238E27FC236}">
                <a16:creationId xmlns:a16="http://schemas.microsoft.com/office/drawing/2014/main" id="{2F6B3910-5FFC-3641-DC4D-CDECCD7D92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725" y="2516239"/>
            <a:ext cx="1960535" cy="2142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007EDA-55B5-54BE-7066-7C561BAA8429}"/>
              </a:ext>
            </a:extLst>
          </p:cNvPr>
          <p:cNvSpPr txBox="1"/>
          <p:nvPr/>
        </p:nvSpPr>
        <p:spPr>
          <a:xfrm>
            <a:off x="2010650" y="4481645"/>
            <a:ext cx="2060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800" dirty="0" err="1"/>
              <a:t>GitJournal</a:t>
            </a:r>
            <a:endParaRPr lang="fr-CH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FF7B5D-792C-DF4C-D195-18D5C9AF80AF}"/>
              </a:ext>
            </a:extLst>
          </p:cNvPr>
          <p:cNvSpPr txBox="1"/>
          <p:nvPr/>
        </p:nvSpPr>
        <p:spPr>
          <a:xfrm>
            <a:off x="5177505" y="4396766"/>
            <a:ext cx="2060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800" dirty="0"/>
              <a:t>Gain de temp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DDF46E-0A71-678B-3A43-4FAE8A43CAEF}"/>
              </a:ext>
            </a:extLst>
          </p:cNvPr>
          <p:cNvSpPr txBox="1"/>
          <p:nvPr/>
        </p:nvSpPr>
        <p:spPr>
          <a:xfrm>
            <a:off x="8671549" y="4469239"/>
            <a:ext cx="2060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800" dirty="0"/>
              <a:t>Modification</a:t>
            </a:r>
          </a:p>
        </p:txBody>
      </p:sp>
    </p:spTree>
    <p:extLst>
      <p:ext uri="{BB962C8B-B14F-4D97-AF65-F5344CB8AC3E}">
        <p14:creationId xmlns:p14="http://schemas.microsoft.com/office/powerpoint/2010/main" val="2431986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Une image contenant capture d’écran, obscurité, noir, espace&#10;&#10;Description générée automatiquement">
            <a:extLst>
              <a:ext uri="{FF2B5EF4-FFF2-40B4-BE49-F238E27FC236}">
                <a16:creationId xmlns:a16="http://schemas.microsoft.com/office/drawing/2014/main" id="{76098BFA-D95F-59BA-D109-7303EC83E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968067" y="0"/>
            <a:ext cx="5249333" cy="6858000"/>
          </a:xfrm>
          <a:prstGeom prst="rect">
            <a:avLst/>
          </a:prstGeom>
        </p:spPr>
      </p:pic>
      <p:pic>
        <p:nvPicPr>
          <p:cNvPr id="15" name="Image 14" descr="Une image contenant léger, art&#10;&#10;Description générée automatiquement avec une confiance moyenne">
            <a:extLst>
              <a:ext uri="{FF2B5EF4-FFF2-40B4-BE49-F238E27FC236}">
                <a16:creationId xmlns:a16="http://schemas.microsoft.com/office/drawing/2014/main" id="{3ADEC4B8-74A8-6906-9E01-B000B284C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" y="0"/>
            <a:ext cx="4902969" cy="6858000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0C530001-B230-3D10-2F5F-9885472943F3}"/>
              </a:ext>
            </a:extLst>
          </p:cNvPr>
          <p:cNvSpPr txBox="1">
            <a:spLocks/>
          </p:cNvSpPr>
          <p:nvPr/>
        </p:nvSpPr>
        <p:spPr>
          <a:xfrm>
            <a:off x="1523999" y="2551970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PRODUIT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22DCA6C-3DD4-FC80-A8AA-5E3378FA52D1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7DA7F4-167D-E830-CCF1-BADBA9955836}"/>
              </a:ext>
            </a:extLst>
          </p:cNvPr>
          <p:cNvSpPr/>
          <p:nvPr/>
        </p:nvSpPr>
        <p:spPr>
          <a:xfrm>
            <a:off x="4717654" y="3713752"/>
            <a:ext cx="27566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6" name="Image 5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D9E63264-2D89-9921-0603-67B2F358399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8" name="Image 7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F3E9E5B3-EAD3-5FD8-AE05-A2A85797A0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65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67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of a book&#10;&#10;AI-generated content may be incorrect.">
            <a:extLst>
              <a:ext uri="{FF2B5EF4-FFF2-40B4-BE49-F238E27FC236}">
                <a16:creationId xmlns:a16="http://schemas.microsoft.com/office/drawing/2014/main" id="{08158E8C-E117-8DB7-ED8E-42D118C1E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352" y="5825065"/>
            <a:ext cx="977316" cy="957600"/>
          </a:xfrm>
          <a:prstGeom prst="rect">
            <a:avLst/>
          </a:prstGeom>
        </p:spPr>
      </p:pic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3CA5EE3-EBC8-E63F-09BF-C352262202D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PRODUIT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D24EB-9EB1-958B-F0BE-3D3F902D5748}"/>
              </a:ext>
            </a:extLst>
          </p:cNvPr>
          <p:cNvSpPr/>
          <p:nvPr/>
        </p:nvSpPr>
        <p:spPr>
          <a:xfrm>
            <a:off x="4717654" y="1513477"/>
            <a:ext cx="27566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1" name="Image 10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1F23BFE6-274E-DCCB-B771-76E0CD21E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pic>
        <p:nvPicPr>
          <p:cNvPr id="12" name="Image 11" descr="Une image contenant ligne, connecteur&#10;&#10;Description générée automatiquement">
            <a:extLst>
              <a:ext uri="{FF2B5EF4-FFF2-40B4-BE49-F238E27FC236}">
                <a16:creationId xmlns:a16="http://schemas.microsoft.com/office/drawing/2014/main" id="{540EF648-2D6D-40CC-6849-64AA4DA8B0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0"/>
            <a:ext cx="5400000" cy="2689453"/>
          </a:xfrm>
          <a:prstGeom prst="rect">
            <a:avLst/>
          </a:prstGeom>
        </p:spPr>
      </p:pic>
      <p:pic>
        <p:nvPicPr>
          <p:cNvPr id="14" name="Image 13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6744DD04-9844-E5F0-2D79-328656ED4AA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6" name="Image 15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C87E385A-9280-8EB7-AAEA-68F98DCFA4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65" y="220938"/>
            <a:ext cx="281506" cy="281506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FA0920-0322-CF7A-EC88-3508EB4728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82" y="1857783"/>
            <a:ext cx="7523032" cy="423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13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8B09-80EF-8005-BE18-390BAC5C1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D062D92F-1910-ABFE-9709-2DFF1F7CAE51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F13C77B-24A3-287E-7407-6B19E6C3D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9260" y="1568721"/>
            <a:ext cx="1513477" cy="352425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PAT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1EE46F9-DC68-419F-401B-506C6E8D2B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" t="9772"/>
          <a:stretch/>
        </p:blipFill>
        <p:spPr bwMode="auto">
          <a:xfrm>
            <a:off x="2813434" y="2101928"/>
            <a:ext cx="6565127" cy="34828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6" descr="Une image contenant clipart, chat, dessin humoristique, silhouette&#10;&#10;Description générée automatiquement">
            <a:extLst>
              <a:ext uri="{FF2B5EF4-FFF2-40B4-BE49-F238E27FC236}">
                <a16:creationId xmlns:a16="http://schemas.microsoft.com/office/drawing/2014/main" id="{F8179641-BF8D-A581-A118-3910FDDBD3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03" b="16196"/>
          <a:stretch/>
        </p:blipFill>
        <p:spPr>
          <a:xfrm>
            <a:off x="11107599" y="5825798"/>
            <a:ext cx="959069" cy="956867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F7A0D403-E553-EA06-59D9-A3F195ABF747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PRODUIT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888DC3-5DA1-D5D6-9F6E-363AE28DBB16}"/>
              </a:ext>
            </a:extLst>
          </p:cNvPr>
          <p:cNvSpPr/>
          <p:nvPr/>
        </p:nvSpPr>
        <p:spPr>
          <a:xfrm>
            <a:off x="4717654" y="1513477"/>
            <a:ext cx="27566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1" name="Image 10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37EB472F-FA19-4E15-8C5A-BA7C8F13A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pic>
        <p:nvPicPr>
          <p:cNvPr id="12" name="Image 11" descr="Une image contenant ligne, connecteur&#10;&#10;Description générée automatiquement">
            <a:extLst>
              <a:ext uri="{FF2B5EF4-FFF2-40B4-BE49-F238E27FC236}">
                <a16:creationId xmlns:a16="http://schemas.microsoft.com/office/drawing/2014/main" id="{4ACF24D6-D080-0A1B-251C-598C53B033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0"/>
            <a:ext cx="5400000" cy="2689453"/>
          </a:xfrm>
          <a:prstGeom prst="rect">
            <a:avLst/>
          </a:prstGeom>
        </p:spPr>
      </p:pic>
      <p:pic>
        <p:nvPicPr>
          <p:cNvPr id="14" name="Image 13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ED3791B0-4700-408E-F2DD-790137FA9E3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6" name="Image 15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49965106-0015-5FFA-11C6-142E5AE8F3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65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7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F7E57C-3DD9-7D7A-6776-7C60436D4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9260" y="1568721"/>
            <a:ext cx="1513477" cy="352425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PAT</a:t>
            </a:r>
          </a:p>
        </p:txBody>
      </p:sp>
      <p:pic>
        <p:nvPicPr>
          <p:cNvPr id="7" name="Image 6" descr="Une image contenant clipart, chat, dessin humoristique, silhouette&#10;&#10;Description générée automatiquement">
            <a:extLst>
              <a:ext uri="{FF2B5EF4-FFF2-40B4-BE49-F238E27FC236}">
                <a16:creationId xmlns:a16="http://schemas.microsoft.com/office/drawing/2014/main" id="{9C4E468B-DE6D-587A-B1C3-B8486EAF4A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03" b="16196"/>
          <a:stretch/>
        </p:blipFill>
        <p:spPr>
          <a:xfrm>
            <a:off x="11107599" y="5825798"/>
            <a:ext cx="959069" cy="956867"/>
          </a:xfrm>
          <a:prstGeom prst="rect">
            <a:avLst/>
          </a:prstGeom>
        </p:spPr>
      </p:pic>
      <p:pic>
        <p:nvPicPr>
          <p:cNvPr id="11" name="Image 10" descr="Une image contenant objet astronomique, cercle, Ambré, lune&#10;&#10;Description générée automatiquement">
            <a:extLst>
              <a:ext uri="{FF2B5EF4-FFF2-40B4-BE49-F238E27FC236}">
                <a16:creationId xmlns:a16="http://schemas.microsoft.com/office/drawing/2014/main" id="{0CAF27E0-F6CF-5141-4C50-BAD6D0658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889" y="2482537"/>
            <a:ext cx="1997155" cy="1997155"/>
          </a:xfrm>
          <a:prstGeom prst="rect">
            <a:avLst/>
          </a:prstGeom>
        </p:spPr>
      </p:pic>
      <p:pic>
        <p:nvPicPr>
          <p:cNvPr id="15" name="Image 14" descr="Une image contenant symbole, Graphique, capture d’écran, clipart&#10;&#10;Description générée automatiquement">
            <a:extLst>
              <a:ext uri="{FF2B5EF4-FFF2-40B4-BE49-F238E27FC236}">
                <a16:creationId xmlns:a16="http://schemas.microsoft.com/office/drawing/2014/main" id="{E613DFB3-8E54-EE55-660F-F36C17F1BE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498" y="2228355"/>
            <a:ext cx="2517012" cy="2517012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DA26C58E-0801-4EA9-A3EA-1CCE15CF822E}"/>
              </a:ext>
            </a:extLst>
          </p:cNvPr>
          <p:cNvGrpSpPr/>
          <p:nvPr/>
        </p:nvGrpSpPr>
        <p:grpSpPr>
          <a:xfrm>
            <a:off x="2829484" y="3708506"/>
            <a:ext cx="767560" cy="1062103"/>
            <a:chOff x="3157315" y="3712132"/>
            <a:chExt cx="767560" cy="1062103"/>
          </a:xfrm>
        </p:grpSpPr>
        <p:pic>
          <p:nvPicPr>
            <p:cNvPr id="5" name="Image 4" descr="Une image contenant dessin humoristique, créativité&#10;&#10;Description générée automatiquement avec une confiance moyenne">
              <a:extLst>
                <a:ext uri="{FF2B5EF4-FFF2-40B4-BE49-F238E27FC236}">
                  <a16:creationId xmlns:a16="http://schemas.microsoft.com/office/drawing/2014/main" id="{52EA75EA-8945-DEB2-C397-81B1BCB16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7315" y="3712132"/>
              <a:ext cx="767560" cy="767560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BD4177D9-AE42-0646-112B-130C730DFD9C}"/>
                </a:ext>
              </a:extLst>
            </p:cNvPr>
            <p:cNvSpPr txBox="1"/>
            <p:nvPr/>
          </p:nvSpPr>
          <p:spPr>
            <a:xfrm>
              <a:off x="3245929" y="4404903"/>
              <a:ext cx="590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PAT</a:t>
              </a:r>
            </a:p>
          </p:txBody>
        </p:sp>
      </p:grp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6DC92DC1-BE17-F969-727D-DE4BDD466E3A}"/>
              </a:ext>
            </a:extLst>
          </p:cNvPr>
          <p:cNvCxnSpPr>
            <a:cxnSpLocks/>
          </p:cNvCxnSpPr>
          <p:nvPr/>
        </p:nvCxnSpPr>
        <p:spPr>
          <a:xfrm>
            <a:off x="7101841" y="3481114"/>
            <a:ext cx="1566924" cy="503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DC877674-C4D5-4DDC-D465-F6FDFD63E4B2}"/>
              </a:ext>
            </a:extLst>
          </p:cNvPr>
          <p:cNvGrpSpPr/>
          <p:nvPr/>
        </p:nvGrpSpPr>
        <p:grpSpPr>
          <a:xfrm>
            <a:off x="8768188" y="2642138"/>
            <a:ext cx="1688024" cy="2038277"/>
            <a:chOff x="8013444" y="2642138"/>
            <a:chExt cx="1688024" cy="2038277"/>
          </a:xfrm>
        </p:grpSpPr>
        <p:pic>
          <p:nvPicPr>
            <p:cNvPr id="21" name="Image 20" descr="Une image contenant symbole, conception&#10;&#10;Description générée automatiquement">
              <a:extLst>
                <a:ext uri="{FF2B5EF4-FFF2-40B4-BE49-F238E27FC236}">
                  <a16:creationId xmlns:a16="http://schemas.microsoft.com/office/drawing/2014/main" id="{0EFE59EF-0BE2-E277-86C8-FE881AEE3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3444" y="2642138"/>
              <a:ext cx="1688024" cy="1688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5B71E591-B0F3-ABFE-681A-CC6C16DD3C47}"/>
                </a:ext>
              </a:extLst>
            </p:cNvPr>
            <p:cNvSpPr txBox="1"/>
            <p:nvPr/>
          </p:nvSpPr>
          <p:spPr>
            <a:xfrm>
              <a:off x="8013444" y="4311083"/>
              <a:ext cx="1688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dirty="0"/>
                <a:t>Morgan-DD</a:t>
              </a:r>
            </a:p>
          </p:txBody>
        </p:sp>
      </p:grpSp>
      <p:sp>
        <p:nvSpPr>
          <p:cNvPr id="4" name="Titre 1">
            <a:extLst>
              <a:ext uri="{FF2B5EF4-FFF2-40B4-BE49-F238E27FC236}">
                <a16:creationId xmlns:a16="http://schemas.microsoft.com/office/drawing/2014/main" id="{6BA9BBBB-60A7-F861-3DCC-220E49E1F9EE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PRODUIT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6826E5-33FF-B440-7B62-10376D213EF6}"/>
              </a:ext>
            </a:extLst>
          </p:cNvPr>
          <p:cNvSpPr/>
          <p:nvPr/>
        </p:nvSpPr>
        <p:spPr>
          <a:xfrm>
            <a:off x="4717654" y="1513477"/>
            <a:ext cx="27566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48A7D45C-7275-CD8D-B99C-72157E52E1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pic>
        <p:nvPicPr>
          <p:cNvPr id="16" name="Image 15" descr="Une image contenant ligne, connecteur&#10;&#10;Description générée automatiquement">
            <a:extLst>
              <a:ext uri="{FF2B5EF4-FFF2-40B4-BE49-F238E27FC236}">
                <a16:creationId xmlns:a16="http://schemas.microsoft.com/office/drawing/2014/main" id="{481EB345-9FC3-7715-E902-4D2561FABA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0"/>
            <a:ext cx="5400000" cy="2689453"/>
          </a:xfrm>
          <a:prstGeom prst="rect">
            <a:avLst/>
          </a:prstGeom>
        </p:spPr>
      </p:pic>
      <p:pic>
        <p:nvPicPr>
          <p:cNvPr id="26" name="Image 25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E84C7BDD-1DB4-25BB-CCEF-964B3D91C9D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8" name="Image 27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C87281C5-FF50-AE41-9AC3-CCB99798A4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65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3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44444E-6 L 0.28841 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4DB4F-46B2-34B7-551D-B441116EE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8106D92B-2663-C2E6-873A-FC19E4A478C9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35FF93F-3BF2-E60A-42DE-14B45C34A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9260" y="1568721"/>
            <a:ext cx="1513477" cy="352425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PAT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07F9E06-CD06-09AA-8383-859A53D72989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PRODUIT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81C066-31CC-7B31-2CE0-437B37117367}"/>
              </a:ext>
            </a:extLst>
          </p:cNvPr>
          <p:cNvSpPr/>
          <p:nvPr/>
        </p:nvSpPr>
        <p:spPr>
          <a:xfrm>
            <a:off x="4717654" y="1513477"/>
            <a:ext cx="27566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1" name="Image 10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2D4B5EFD-882D-6C04-719C-AD7AF12AA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pic>
        <p:nvPicPr>
          <p:cNvPr id="12" name="Image 11" descr="Une image contenant ligne, connecteur&#10;&#10;Description générée automatiquement">
            <a:extLst>
              <a:ext uri="{FF2B5EF4-FFF2-40B4-BE49-F238E27FC236}">
                <a16:creationId xmlns:a16="http://schemas.microsoft.com/office/drawing/2014/main" id="{BEEECCD8-1CFE-493A-9E44-51BB05DF6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0"/>
            <a:ext cx="5400000" cy="2689453"/>
          </a:xfrm>
          <a:prstGeom prst="rect">
            <a:avLst/>
          </a:prstGeom>
        </p:spPr>
      </p:pic>
      <p:pic>
        <p:nvPicPr>
          <p:cNvPr id="14" name="Image 13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E443D6FA-6609-2036-4F6F-38686DBF8A6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6" name="Image 15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5AF90304-6091-9BD9-DD9E-D5705E528B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65" y="220938"/>
            <a:ext cx="281506" cy="281506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F7DCE1-DDEB-0E2B-C8AE-E5894D1335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446" y="1921146"/>
            <a:ext cx="6135108" cy="4212047"/>
          </a:xfrm>
          <a:prstGeom prst="rect">
            <a:avLst/>
          </a:prstGeom>
        </p:spPr>
      </p:pic>
      <p:pic>
        <p:nvPicPr>
          <p:cNvPr id="4" name="Image 6" descr="Une image contenant clipart, chat, dessin humoristique, silhouette&#10;&#10;Description générée automatiquement">
            <a:extLst>
              <a:ext uri="{FF2B5EF4-FFF2-40B4-BE49-F238E27FC236}">
                <a16:creationId xmlns:a16="http://schemas.microsoft.com/office/drawing/2014/main" id="{0C4CDBC5-F304-AADA-3BD7-6CCB5ECBE82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03" b="16196"/>
          <a:stretch/>
        </p:blipFill>
        <p:spPr>
          <a:xfrm>
            <a:off x="11107599" y="5825798"/>
            <a:ext cx="959069" cy="95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0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F7E57C-3DD9-7D7A-6776-7C60436D4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9959" y="1572451"/>
            <a:ext cx="3272080" cy="352425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Affichage et modification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69C6FD6-4023-C497-7BB8-006F0A924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1639" y="2216138"/>
            <a:ext cx="9468719" cy="35149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725FC88F-BC13-1423-E01F-50502B6110C6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PRODUIT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FF1CDE-14A7-1867-3190-C89364E20CF4}"/>
              </a:ext>
            </a:extLst>
          </p:cNvPr>
          <p:cNvSpPr/>
          <p:nvPr/>
        </p:nvSpPr>
        <p:spPr>
          <a:xfrm>
            <a:off x="4717654" y="1513477"/>
            <a:ext cx="27566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Image 13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B15A3A56-5213-DFC4-8C23-68C23E3765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pic>
        <p:nvPicPr>
          <p:cNvPr id="15" name="Image 14" descr="Une image contenant ligne, connecteur&#10;&#10;Description générée automatiquement">
            <a:extLst>
              <a:ext uri="{FF2B5EF4-FFF2-40B4-BE49-F238E27FC236}">
                <a16:creationId xmlns:a16="http://schemas.microsoft.com/office/drawing/2014/main" id="{D860E3D7-EBD9-3E0D-E806-81478E06E8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0"/>
            <a:ext cx="5400000" cy="2689453"/>
          </a:xfrm>
          <a:prstGeom prst="rect">
            <a:avLst/>
          </a:prstGeom>
        </p:spPr>
      </p:pic>
      <p:pic>
        <p:nvPicPr>
          <p:cNvPr id="16" name="Image 15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0E3A9FBA-0C3D-4127-9CC7-FA6298BBE9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pic>
        <p:nvPicPr>
          <p:cNvPr id="23" name="Image 22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7872AFB4-EAD7-33BD-0DD8-BEA91F2EAC1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5" name="Image 24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5E7C15E1-7161-AAF0-2AC4-16D0E5E20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65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44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Police, capture d’écran, Graphique, texte&#10;&#10;Description générée automatiquement">
            <a:extLst>
              <a:ext uri="{FF2B5EF4-FFF2-40B4-BE49-F238E27FC236}">
                <a16:creationId xmlns:a16="http://schemas.microsoft.com/office/drawing/2014/main" id="{1D2D94E2-F51F-9A2A-9EE9-0F0BBC1AA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432"/>
            <a:ext cx="957600" cy="957600"/>
          </a:xfrm>
          <a:prstGeom prst="rect">
            <a:avLst/>
          </a:prstGeom>
        </p:spPr>
      </p:pic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F7E57C-3DD9-7D7A-6776-7C60436D4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4544" y="1568721"/>
            <a:ext cx="5522912" cy="352425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PDF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308C7C56-0961-B5C9-6610-682A90F80170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PRODUIT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A9ED67-D502-81A1-7ADE-FD769FFE9FDD}"/>
              </a:ext>
            </a:extLst>
          </p:cNvPr>
          <p:cNvSpPr/>
          <p:nvPr/>
        </p:nvSpPr>
        <p:spPr>
          <a:xfrm>
            <a:off x="4717654" y="1513477"/>
            <a:ext cx="27566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Image 9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8A35E518-D08C-83CC-88DA-A38F6ED53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6965"/>
            <a:ext cx="1513476" cy="5400000"/>
          </a:xfrm>
          <a:prstGeom prst="rect">
            <a:avLst/>
          </a:prstGeom>
        </p:spPr>
      </p:pic>
      <p:pic>
        <p:nvPicPr>
          <p:cNvPr id="11" name="Image 10" descr="Une image contenant ligne, connecteur&#10;&#10;Description générée automatiquement">
            <a:extLst>
              <a:ext uri="{FF2B5EF4-FFF2-40B4-BE49-F238E27FC236}">
                <a16:creationId xmlns:a16="http://schemas.microsoft.com/office/drawing/2014/main" id="{9C33A6F0-C3CA-04BD-73D1-418E9FECFA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0"/>
            <a:ext cx="5400000" cy="2689453"/>
          </a:xfrm>
          <a:prstGeom prst="rect">
            <a:avLst/>
          </a:prstGeom>
        </p:spPr>
      </p:pic>
      <p:pic>
        <p:nvPicPr>
          <p:cNvPr id="13" name="Image 12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1E75737A-CCD1-5840-C97C-A2DFC5F6AA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04" y="1547141"/>
            <a:ext cx="8244114" cy="43704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Image 2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6A5C0D52-4A6E-9C0C-2831-113600F383A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4" name="Image 23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F91C3881-F4C9-7806-C13E-88E39E3D72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365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88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léger, art&#10;&#10;Description générée automatiquement avec une confiance moyenne">
            <a:extLst>
              <a:ext uri="{FF2B5EF4-FFF2-40B4-BE49-F238E27FC236}">
                <a16:creationId xmlns:a16="http://schemas.microsoft.com/office/drawing/2014/main" id="{3ADEC4B8-74A8-6906-9E01-B000B284C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" y="0"/>
            <a:ext cx="4902969" cy="6858000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0C530001-B230-3D10-2F5F-9885472943F3}"/>
              </a:ext>
            </a:extLst>
          </p:cNvPr>
          <p:cNvSpPr txBox="1">
            <a:spLocks/>
          </p:cNvSpPr>
          <p:nvPr/>
        </p:nvSpPr>
        <p:spPr>
          <a:xfrm>
            <a:off x="1523999" y="2551970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22DCA6C-3DD4-FC80-A8AA-5E3378FA52D1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18" name="Image 17" descr="Une image contenant capture d’écran, obscurité, noir, espace&#10;&#10;Description générée automatiquement">
            <a:extLst>
              <a:ext uri="{FF2B5EF4-FFF2-40B4-BE49-F238E27FC236}">
                <a16:creationId xmlns:a16="http://schemas.microsoft.com/office/drawing/2014/main" id="{76098BFA-D95F-59BA-D109-7303EC83E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968067" y="0"/>
            <a:ext cx="5249333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8D3392A-2F12-5CCA-C69D-D80E80A616F8}"/>
              </a:ext>
            </a:extLst>
          </p:cNvPr>
          <p:cNvSpPr/>
          <p:nvPr/>
        </p:nvSpPr>
        <p:spPr>
          <a:xfrm>
            <a:off x="3334544" y="3705224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6" name="Image 5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F217ABFB-3DD2-0DF9-5739-D3089B087C8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9" name="Image 8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67BCC81F-75A2-F6B0-8BFB-9E31CE9BAC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10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C5DA33E7-9144-00E5-4784-05E26F918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F7E57C-3DD9-7D7A-6776-7C60436D4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9260" y="1568721"/>
            <a:ext cx="1513477" cy="352425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PAT</a:t>
            </a:r>
          </a:p>
        </p:txBody>
      </p:sp>
      <p:pic>
        <p:nvPicPr>
          <p:cNvPr id="5" name="Image 4" descr="Une image contenant clipart, chat, dessin humoristique, silhouette&#10;&#10;Description générée automatiquement">
            <a:extLst>
              <a:ext uri="{FF2B5EF4-FFF2-40B4-BE49-F238E27FC236}">
                <a16:creationId xmlns:a16="http://schemas.microsoft.com/office/drawing/2014/main" id="{8466A9A8-9536-958C-36A0-FDD2ED8D811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03" b="16196"/>
          <a:stretch/>
        </p:blipFill>
        <p:spPr>
          <a:xfrm>
            <a:off x="4662746" y="2334868"/>
            <a:ext cx="2623430" cy="2617405"/>
          </a:xfrm>
          <a:prstGeom prst="rect">
            <a:avLst/>
          </a:prstGeom>
        </p:spPr>
      </p:pic>
      <p:pic>
        <p:nvPicPr>
          <p:cNvPr id="7" name="Image 6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AA6FFDD0-1878-7E15-65B0-35494A9F4B2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9" name="Image 8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952C8058-9E86-34FA-1367-AA68551429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30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F7E57C-3DD9-7D7A-6776-7C60436D4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9260" y="1568721"/>
            <a:ext cx="1513477" cy="352425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PAT</a:t>
            </a:r>
          </a:p>
        </p:txBody>
      </p:sp>
      <p:pic>
        <p:nvPicPr>
          <p:cNvPr id="7" name="Image 6" descr="Une image contenant clipart, chat, dessin humoristique, silhouette&#10;&#10;Description générée automatiquement">
            <a:extLst>
              <a:ext uri="{FF2B5EF4-FFF2-40B4-BE49-F238E27FC236}">
                <a16:creationId xmlns:a16="http://schemas.microsoft.com/office/drawing/2014/main" id="{9C4E468B-DE6D-587A-B1C3-B8486EAF4A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03" b="16196"/>
          <a:stretch/>
        </p:blipFill>
        <p:spPr>
          <a:xfrm>
            <a:off x="11107599" y="5825798"/>
            <a:ext cx="959069" cy="956867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C24BDAC2-D49D-7F35-5E51-24CCFB6D34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987" y="461915"/>
            <a:ext cx="1459231" cy="145923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E6D44E2-3641-FE95-4958-82BDCB85B9D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3954"/>
          <a:stretch/>
        </p:blipFill>
        <p:spPr>
          <a:xfrm>
            <a:off x="2315247" y="2323075"/>
            <a:ext cx="1934498" cy="305795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B416EF2-6559-FD7B-BE85-56B5588F740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4599"/>
          <a:stretch/>
        </p:blipFill>
        <p:spPr>
          <a:xfrm>
            <a:off x="7030903" y="2251627"/>
            <a:ext cx="1846780" cy="320084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E183BBB-535D-8043-B60C-A2949A15C45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5873"/>
          <a:stretch/>
        </p:blipFill>
        <p:spPr>
          <a:xfrm>
            <a:off x="415196" y="2375469"/>
            <a:ext cx="1723022" cy="295316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DF8222A-6A88-C337-8472-2C7C8CA4F5A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874"/>
          <a:stretch/>
        </p:blipFill>
        <p:spPr>
          <a:xfrm>
            <a:off x="4579109" y="1903919"/>
            <a:ext cx="2232722" cy="3896269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0D8CE54B-9632-7254-D0BE-7384603B52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37056" y="2708893"/>
            <a:ext cx="1819529" cy="2286319"/>
          </a:xfrm>
          <a:prstGeom prst="rect">
            <a:avLst/>
          </a:prstGeom>
        </p:spPr>
      </p:pic>
      <p:pic>
        <p:nvPicPr>
          <p:cNvPr id="8" name="Image 7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14496081-C44E-C717-B64E-448605A5BEC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0" name="Image 9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DF80F762-202E-A2F5-E153-F32C3768EB0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4" name="Image 3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94CF4108-64D0-CCFB-6D79-F0BC36BC605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12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932CE-9F4D-0F1F-4FAF-14716F86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EB070E8C-20E4-5760-2CDF-EF350F1B9A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4DB4B898-855A-DC68-4DAA-56636246595B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71D2B5-6A06-16CA-726E-0C9B3999E904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634B988C-2191-C533-52FD-A9F70A45CA60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7349222-A502-C524-A93D-34A3928C1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9260" y="1568721"/>
            <a:ext cx="1513477" cy="352425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PAT</a:t>
            </a:r>
          </a:p>
        </p:txBody>
      </p:sp>
      <p:pic>
        <p:nvPicPr>
          <p:cNvPr id="7" name="Image 6" descr="Une image contenant clipart, chat, dessin humoristique, silhouette&#10;&#10;Description générée automatiquement">
            <a:extLst>
              <a:ext uri="{FF2B5EF4-FFF2-40B4-BE49-F238E27FC236}">
                <a16:creationId xmlns:a16="http://schemas.microsoft.com/office/drawing/2014/main" id="{98AA4923-5BB7-ECC2-D8A5-89B2EFF232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03" b="16196"/>
          <a:stretch/>
        </p:blipFill>
        <p:spPr>
          <a:xfrm>
            <a:off x="11107599" y="5825798"/>
            <a:ext cx="959069" cy="956867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68A9C335-E4C8-C21B-99B6-47D14D2AA1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987" y="461915"/>
            <a:ext cx="1459231" cy="145923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C65E296-9585-049B-D825-F6B11DA7B7E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70000"/>
          </a:blip>
          <a:srcRect r="13954"/>
          <a:stretch/>
        </p:blipFill>
        <p:spPr>
          <a:xfrm>
            <a:off x="2315247" y="2323075"/>
            <a:ext cx="1934498" cy="305795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1FB4754-D9CF-EF0B-9BDE-5C8005B433A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4599"/>
          <a:stretch/>
        </p:blipFill>
        <p:spPr>
          <a:xfrm>
            <a:off x="7030903" y="2251627"/>
            <a:ext cx="1846780" cy="320084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50E7C6A2-3BFF-B93D-2F8A-CDFA9F9E452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25873"/>
          <a:stretch/>
        </p:blipFill>
        <p:spPr>
          <a:xfrm>
            <a:off x="415196" y="2375469"/>
            <a:ext cx="1723022" cy="295316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AE7229AF-11A3-E284-C5B2-58E4613B5A5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874"/>
          <a:stretch/>
        </p:blipFill>
        <p:spPr>
          <a:xfrm>
            <a:off x="4579109" y="1903919"/>
            <a:ext cx="2232722" cy="3896269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BD71A025-F050-9D9D-AAA3-B206D6AB23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37056" y="2708893"/>
            <a:ext cx="1819529" cy="2286319"/>
          </a:xfrm>
          <a:prstGeom prst="rect">
            <a:avLst/>
          </a:prstGeom>
        </p:spPr>
      </p:pic>
      <p:pic>
        <p:nvPicPr>
          <p:cNvPr id="8" name="Image 7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0D1AEF70-FF1F-2D18-A9C9-F26C14A994B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0" name="Image 9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96DC897C-B12E-FA44-BC93-D126F90DDE8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4" name="Image 3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700789CC-CD60-B541-E9C0-302F2EC56F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6" name="Image 10">
            <a:extLst>
              <a:ext uri="{FF2B5EF4-FFF2-40B4-BE49-F238E27FC236}">
                <a16:creationId xmlns:a16="http://schemas.microsoft.com/office/drawing/2014/main" id="{C1B61CD9-E789-C05E-4BF8-B2AC5F92546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3954" b="46738"/>
          <a:stretch>
            <a:fillRect/>
          </a:stretch>
        </p:blipFill>
        <p:spPr>
          <a:xfrm>
            <a:off x="2315247" y="2323075"/>
            <a:ext cx="1934498" cy="162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92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52D85A06-45C0-C2D7-D328-39633AE37922}"/>
              </a:ext>
            </a:extLst>
          </p:cNvPr>
          <p:cNvSpPr txBox="1">
            <a:spLocks/>
          </p:cNvSpPr>
          <p:nvPr/>
        </p:nvSpPr>
        <p:spPr>
          <a:xfrm>
            <a:off x="4459959" y="1572451"/>
            <a:ext cx="327208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Affichage et modification</a:t>
            </a:r>
            <a:endParaRPr lang="fr-CH" dirty="0"/>
          </a:p>
        </p:txBody>
      </p:sp>
      <p:pic>
        <p:nvPicPr>
          <p:cNvPr id="11" name="Image 10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5AC1396C-72B9-BBCD-880F-B6AC5ECB3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pic>
        <p:nvPicPr>
          <p:cNvPr id="21" name="Image 2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89A7BEE2-A79C-F16D-C5EB-CC87E91BBDA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4" name="Image 23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22D31CAE-84F3-23AE-0927-A511BEB291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3" name="Image 2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EF030753-DC71-6836-CE0D-7E2E0CAEE7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4" name="Image 3" descr="Une image contenant Police, capture d’écran, Graphique, logo&#10;&#10;Description générée automatiquement">
            <a:extLst>
              <a:ext uri="{FF2B5EF4-FFF2-40B4-BE49-F238E27FC236}">
                <a16:creationId xmlns:a16="http://schemas.microsoft.com/office/drawing/2014/main" id="{4C094853-09E8-D7B7-8040-F96049C7F1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597" y="2047273"/>
            <a:ext cx="3921507" cy="39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59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52D85A06-45C0-C2D7-D328-39633AE37922}"/>
              </a:ext>
            </a:extLst>
          </p:cNvPr>
          <p:cNvSpPr txBox="1">
            <a:spLocks/>
          </p:cNvSpPr>
          <p:nvPr/>
        </p:nvSpPr>
        <p:spPr>
          <a:xfrm>
            <a:off x="4459959" y="1572451"/>
            <a:ext cx="327208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Affichage et modification</a:t>
            </a:r>
            <a:endParaRPr lang="fr-CH" dirty="0"/>
          </a:p>
        </p:txBody>
      </p:sp>
      <p:pic>
        <p:nvPicPr>
          <p:cNvPr id="11" name="Image 10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5AC1396C-72B9-BBCD-880F-B6AC5ECB3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DB2B67E-16A8-C536-6511-A7E06CABA7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0101" y="1879798"/>
            <a:ext cx="9468719" cy="35149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Image 14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F1C44FAE-B662-EB7B-758E-A33A689B24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1" name="Image 20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B2412998-A4D5-6B79-14B9-0A7BEE5D66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3" name="Image 2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8100F00E-7968-8BBC-9348-6C10E18640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6" name="Image 10">
            <a:extLst>
              <a:ext uri="{FF2B5EF4-FFF2-40B4-BE49-F238E27FC236}">
                <a16:creationId xmlns:a16="http://schemas.microsoft.com/office/drawing/2014/main" id="{93CA375D-D750-E947-B7FF-D1A9F2595DD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 amt="70000"/>
          </a:blip>
          <a:srcRect r="13954"/>
          <a:stretch/>
        </p:blipFill>
        <p:spPr>
          <a:xfrm>
            <a:off x="2315247" y="8057125"/>
            <a:ext cx="1934498" cy="3057952"/>
          </a:xfrm>
          <a:prstGeom prst="rect">
            <a:avLst/>
          </a:prstGeom>
        </p:spPr>
      </p:pic>
      <p:pic>
        <p:nvPicPr>
          <p:cNvPr id="13" name="Image 14">
            <a:extLst>
              <a:ext uri="{FF2B5EF4-FFF2-40B4-BE49-F238E27FC236}">
                <a16:creationId xmlns:a16="http://schemas.microsoft.com/office/drawing/2014/main" id="{03FCAAD5-1882-A348-3B35-1D6191E58A3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14599"/>
          <a:stretch/>
        </p:blipFill>
        <p:spPr>
          <a:xfrm>
            <a:off x="7030903" y="7985677"/>
            <a:ext cx="1846780" cy="3200847"/>
          </a:xfrm>
          <a:prstGeom prst="rect">
            <a:avLst/>
          </a:prstGeom>
        </p:spPr>
      </p:pic>
      <p:pic>
        <p:nvPicPr>
          <p:cNvPr id="14" name="Image 20">
            <a:extLst>
              <a:ext uri="{FF2B5EF4-FFF2-40B4-BE49-F238E27FC236}">
                <a16:creationId xmlns:a16="http://schemas.microsoft.com/office/drawing/2014/main" id="{B1BFA710-0FD5-6A14-0752-134585CAB92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25873"/>
          <a:stretch/>
        </p:blipFill>
        <p:spPr>
          <a:xfrm>
            <a:off x="415196" y="8109519"/>
            <a:ext cx="1723022" cy="2953162"/>
          </a:xfrm>
          <a:prstGeom prst="rect">
            <a:avLst/>
          </a:prstGeom>
        </p:spPr>
      </p:pic>
      <p:pic>
        <p:nvPicPr>
          <p:cNvPr id="16" name="Image 23">
            <a:extLst>
              <a:ext uri="{FF2B5EF4-FFF2-40B4-BE49-F238E27FC236}">
                <a16:creationId xmlns:a16="http://schemas.microsoft.com/office/drawing/2014/main" id="{F215E48E-A085-D922-1FB7-EF1E318D13C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5874"/>
          <a:stretch/>
        </p:blipFill>
        <p:spPr>
          <a:xfrm>
            <a:off x="4579109" y="7637969"/>
            <a:ext cx="2232722" cy="3896269"/>
          </a:xfrm>
          <a:prstGeom prst="rect">
            <a:avLst/>
          </a:prstGeom>
        </p:spPr>
      </p:pic>
      <p:pic>
        <p:nvPicPr>
          <p:cNvPr id="17" name="Image 25">
            <a:extLst>
              <a:ext uri="{FF2B5EF4-FFF2-40B4-BE49-F238E27FC236}">
                <a16:creationId xmlns:a16="http://schemas.microsoft.com/office/drawing/2014/main" id="{2FBD0337-3AD3-C606-F4BD-F86D3379D1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7056" y="8442943"/>
            <a:ext cx="1819529" cy="2286319"/>
          </a:xfrm>
          <a:prstGeom prst="rect">
            <a:avLst/>
          </a:prstGeom>
        </p:spPr>
      </p:pic>
      <p:pic>
        <p:nvPicPr>
          <p:cNvPr id="18" name="Image 10">
            <a:extLst>
              <a:ext uri="{FF2B5EF4-FFF2-40B4-BE49-F238E27FC236}">
                <a16:creationId xmlns:a16="http://schemas.microsoft.com/office/drawing/2014/main" id="{8907F99F-6AF1-3662-F0B2-6ABE12B9C26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13954" b="46738"/>
          <a:stretch>
            <a:fillRect/>
          </a:stretch>
        </p:blipFill>
        <p:spPr>
          <a:xfrm>
            <a:off x="2315247" y="8057125"/>
            <a:ext cx="1934498" cy="162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3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52D85A06-45C0-C2D7-D328-39633AE37922}"/>
              </a:ext>
            </a:extLst>
          </p:cNvPr>
          <p:cNvSpPr txBox="1">
            <a:spLocks/>
          </p:cNvSpPr>
          <p:nvPr/>
        </p:nvSpPr>
        <p:spPr>
          <a:xfrm>
            <a:off x="4459959" y="1572451"/>
            <a:ext cx="327208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Affichage et modification</a:t>
            </a:r>
            <a:endParaRPr lang="fr-CH" dirty="0"/>
          </a:p>
        </p:txBody>
      </p:sp>
      <p:pic>
        <p:nvPicPr>
          <p:cNvPr id="11" name="Image 10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5AC1396C-72B9-BBCD-880F-B6AC5ECB3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DB2B67E-16A8-C536-6511-A7E06CABA7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0101" y="1879798"/>
            <a:ext cx="9468719" cy="35149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75D9337-1DEA-2824-8BBB-53FA563953E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7" r="1236" b="64734"/>
          <a:stretch/>
        </p:blipFill>
        <p:spPr>
          <a:xfrm>
            <a:off x="1240101" y="2710672"/>
            <a:ext cx="9351699" cy="412985"/>
          </a:xfrm>
          <a:prstGeom prst="rect">
            <a:avLst/>
          </a:prstGeom>
          <a:ln>
            <a:noFill/>
          </a:ln>
        </p:spPr>
      </p:pic>
      <p:pic>
        <p:nvPicPr>
          <p:cNvPr id="7" name="Image 6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654C6D83-944B-C4A5-F2DC-1A452E4BC64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4" name="Image 13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B34119EF-CAE4-F524-B684-2A746E4869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3" name="Image 2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5CC5C119-C4C4-DCCF-63AF-B47C1581F6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27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0DA72-55E4-C88B-DE80-1FB276E0E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AEE9AA9E-BC55-6185-EA35-A08E9CA373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14"/>
          <a:stretch/>
        </p:blipFill>
        <p:spPr>
          <a:xfrm>
            <a:off x="3142162" y="2512315"/>
            <a:ext cx="5907673" cy="39354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D9B29F0F-8346-B825-548B-6F9B6DD8FB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DA4C35D9-FD2D-434F-F6A9-2C8C6CA5CCC9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DC7907-18C6-9B61-B9A7-3FBA7B032DB0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EFDA994E-86C9-346F-79BE-C4FF5AD04F50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C561D710-21CD-8F0D-4EF1-9D90A7927002}"/>
              </a:ext>
            </a:extLst>
          </p:cNvPr>
          <p:cNvSpPr txBox="1">
            <a:spLocks/>
          </p:cNvSpPr>
          <p:nvPr/>
        </p:nvSpPr>
        <p:spPr>
          <a:xfrm>
            <a:off x="4459959" y="1572451"/>
            <a:ext cx="327208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Affichage et modification</a:t>
            </a:r>
            <a:endParaRPr lang="fr-CH" dirty="0"/>
          </a:p>
        </p:txBody>
      </p:sp>
      <p:pic>
        <p:nvPicPr>
          <p:cNvPr id="11" name="Image 10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A9C3A847-5298-6E61-FDAB-B93C44B28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5B4A86B-978D-F578-824C-942851F2EA8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7" r="1236" b="64734"/>
          <a:stretch/>
        </p:blipFill>
        <p:spPr>
          <a:xfrm>
            <a:off x="1420148" y="1885383"/>
            <a:ext cx="9351699" cy="412985"/>
          </a:xfrm>
          <a:prstGeom prst="rect">
            <a:avLst/>
          </a:prstGeom>
          <a:ln>
            <a:noFill/>
          </a:ln>
        </p:spPr>
      </p:pic>
      <p:pic>
        <p:nvPicPr>
          <p:cNvPr id="21" name="Image 2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7A34E854-4B17-C0A1-560F-3893748E91A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4" name="Image 23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1AABE78F-03F5-3FEB-D2AF-784C9CBC31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3" name="Image 2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1EE8183D-8335-178C-3AE7-421E10AA19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4" name="Image 3" descr="Une image contenant Police, capture d’écran, Graphique, logo&#10;&#10;Description générée automatiquement">
            <a:extLst>
              <a:ext uri="{FF2B5EF4-FFF2-40B4-BE49-F238E27FC236}">
                <a16:creationId xmlns:a16="http://schemas.microsoft.com/office/drawing/2014/main" id="{E25B97CF-F12B-617D-B2A8-42384E5B2A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7" y="3047174"/>
            <a:ext cx="1481806" cy="148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0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292EE813-A883-8450-292B-A8D5234115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14"/>
          <a:stretch/>
        </p:blipFill>
        <p:spPr>
          <a:xfrm>
            <a:off x="3142162" y="2512315"/>
            <a:ext cx="5907673" cy="39354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52D85A06-45C0-C2D7-D328-39633AE37922}"/>
              </a:ext>
            </a:extLst>
          </p:cNvPr>
          <p:cNvSpPr txBox="1">
            <a:spLocks/>
          </p:cNvSpPr>
          <p:nvPr/>
        </p:nvSpPr>
        <p:spPr>
          <a:xfrm>
            <a:off x="4459959" y="1572451"/>
            <a:ext cx="327208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Affichage et modification</a:t>
            </a:r>
            <a:endParaRPr lang="fr-CH" dirty="0"/>
          </a:p>
        </p:txBody>
      </p:sp>
      <p:pic>
        <p:nvPicPr>
          <p:cNvPr id="11" name="Image 10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5AC1396C-72B9-BBCD-880F-B6AC5ECB34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B33106E-14C6-B078-4B67-34B28F53C92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7" r="1236" b="64734"/>
          <a:stretch/>
        </p:blipFill>
        <p:spPr>
          <a:xfrm>
            <a:off x="1420148" y="1883002"/>
            <a:ext cx="9351699" cy="412985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6E25EC-F0C5-B83A-B255-1FFB44B60C63}"/>
              </a:ext>
            </a:extLst>
          </p:cNvPr>
          <p:cNvSpPr/>
          <p:nvPr/>
        </p:nvSpPr>
        <p:spPr>
          <a:xfrm>
            <a:off x="3590925" y="2964290"/>
            <a:ext cx="5458910" cy="285750"/>
          </a:xfrm>
          <a:prstGeom prst="rect">
            <a:avLst/>
          </a:prstGeom>
          <a:solidFill>
            <a:srgbClr val="FF8324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6" name="Image 15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CB5BFAEC-E865-5D51-0CB9-A87109BB00E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3" name="Image 22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6A214D05-C608-4B92-B2B5-21463204E3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0831824-BECD-298F-083D-23C94D59E9E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3517" r="75667" b="64734"/>
          <a:stretch/>
        </p:blipFill>
        <p:spPr>
          <a:xfrm>
            <a:off x="1420149" y="1884268"/>
            <a:ext cx="2304126" cy="412985"/>
          </a:xfrm>
          <a:prstGeom prst="rect">
            <a:avLst/>
          </a:prstGeom>
          <a:ln>
            <a:noFill/>
          </a:ln>
        </p:spPr>
      </p:pic>
      <p:pic>
        <p:nvPicPr>
          <p:cNvPr id="10" name="Image 9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85E888FD-C401-4DC4-A2BD-A6B164442B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2" name="Image 11" descr="Une image contenant Police, capture d’écran, Graphique, logo&#10;&#10;Description générée automatiquement">
            <a:extLst>
              <a:ext uri="{FF2B5EF4-FFF2-40B4-BE49-F238E27FC236}">
                <a16:creationId xmlns:a16="http://schemas.microsoft.com/office/drawing/2014/main" id="{1002630A-4407-96E9-CBB6-445E03A168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7" y="3047174"/>
            <a:ext cx="1481806" cy="148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9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8B6E66F8-436C-6452-0B7F-85B8574A42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14"/>
          <a:stretch/>
        </p:blipFill>
        <p:spPr>
          <a:xfrm>
            <a:off x="3142162" y="2512315"/>
            <a:ext cx="5907673" cy="39354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52D85A06-45C0-C2D7-D328-39633AE37922}"/>
              </a:ext>
            </a:extLst>
          </p:cNvPr>
          <p:cNvSpPr txBox="1">
            <a:spLocks/>
          </p:cNvSpPr>
          <p:nvPr/>
        </p:nvSpPr>
        <p:spPr>
          <a:xfrm>
            <a:off x="4459959" y="1572451"/>
            <a:ext cx="327208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Affichage et modification</a:t>
            </a:r>
            <a:endParaRPr lang="fr-CH" dirty="0"/>
          </a:p>
        </p:txBody>
      </p:sp>
      <p:pic>
        <p:nvPicPr>
          <p:cNvPr id="11" name="Image 10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5AC1396C-72B9-BBCD-880F-B6AC5ECB34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A2C502-DDB3-D706-49B8-6A7676FB2DEC}"/>
              </a:ext>
            </a:extLst>
          </p:cNvPr>
          <p:cNvSpPr/>
          <p:nvPr/>
        </p:nvSpPr>
        <p:spPr>
          <a:xfrm>
            <a:off x="3590926" y="3195693"/>
            <a:ext cx="1734109" cy="285750"/>
          </a:xfrm>
          <a:prstGeom prst="rect">
            <a:avLst/>
          </a:prstGeom>
          <a:solidFill>
            <a:srgbClr val="FF8324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459E0CE-C67C-D6EF-7311-396DAC0F700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2" t="23483" r="30231" b="64734"/>
          <a:stretch/>
        </p:blipFill>
        <p:spPr>
          <a:xfrm>
            <a:off x="3760935" y="1885531"/>
            <a:ext cx="4260702" cy="414167"/>
          </a:xfrm>
          <a:prstGeom prst="rect">
            <a:avLst/>
          </a:prstGeom>
          <a:ln>
            <a:noFill/>
          </a:ln>
        </p:spPr>
      </p:pic>
      <p:pic>
        <p:nvPicPr>
          <p:cNvPr id="16" name="Image 15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F818A325-248A-F55C-80E5-1826C2A5FFF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3" name="Image 22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8B9F43DB-DEC0-D3CD-C24F-C4C0AE4364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5" name="Image 4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8C37ECB7-1767-BA3C-C873-8C31F97FED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F7E11EA-2113-6022-3E18-22ED9144DA4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7" r="1236" b="64734"/>
          <a:stretch/>
        </p:blipFill>
        <p:spPr>
          <a:xfrm>
            <a:off x="1420148" y="1883002"/>
            <a:ext cx="9351699" cy="412985"/>
          </a:xfrm>
          <a:prstGeom prst="rect">
            <a:avLst/>
          </a:prstGeom>
          <a:ln>
            <a:noFill/>
          </a:ln>
        </p:spPr>
      </p:pic>
      <p:pic>
        <p:nvPicPr>
          <p:cNvPr id="15" name="Image 14" descr="Une image contenant Police, capture d’écran, Graphique, logo&#10;&#10;Description générée automatiquement">
            <a:extLst>
              <a:ext uri="{FF2B5EF4-FFF2-40B4-BE49-F238E27FC236}">
                <a16:creationId xmlns:a16="http://schemas.microsoft.com/office/drawing/2014/main" id="{7EBBF479-338C-5006-1409-1320ECEB4B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7" y="3047174"/>
            <a:ext cx="1481806" cy="148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344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42A2819A-93BB-6A99-EDDD-272257AA52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14"/>
          <a:stretch/>
        </p:blipFill>
        <p:spPr>
          <a:xfrm>
            <a:off x="3142162" y="2512315"/>
            <a:ext cx="5907673" cy="39354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C5DA33E7-9144-00E5-4784-05E26F918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52D85A06-45C0-C2D7-D328-39633AE37922}"/>
              </a:ext>
            </a:extLst>
          </p:cNvPr>
          <p:cNvSpPr txBox="1">
            <a:spLocks/>
          </p:cNvSpPr>
          <p:nvPr/>
        </p:nvSpPr>
        <p:spPr>
          <a:xfrm>
            <a:off x="4459959" y="1572451"/>
            <a:ext cx="327208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Affichage et modification</a:t>
            </a:r>
            <a:endParaRPr lang="fr-CH" dirty="0"/>
          </a:p>
        </p:txBody>
      </p:sp>
      <p:pic>
        <p:nvPicPr>
          <p:cNvPr id="11" name="Image 10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5AC1396C-72B9-BBCD-880F-B6AC5ECB3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ECAC559-A9E4-FE12-0408-60386886A279}"/>
              </a:ext>
            </a:extLst>
          </p:cNvPr>
          <p:cNvSpPr/>
          <p:nvPr/>
        </p:nvSpPr>
        <p:spPr>
          <a:xfrm>
            <a:off x="3590926" y="3657426"/>
            <a:ext cx="2138672" cy="285750"/>
          </a:xfrm>
          <a:prstGeom prst="rect">
            <a:avLst/>
          </a:prstGeom>
          <a:solidFill>
            <a:srgbClr val="FF8324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21" name="Image 2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0737B192-A90E-979C-07DD-D9E08B83A5D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4" name="Image 23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0CC116ED-C00C-C0C6-C79D-2CB7CD57A4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FB5C523-6157-24F2-C709-7647E86FC77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7" r="1236" b="64734"/>
          <a:stretch/>
        </p:blipFill>
        <p:spPr>
          <a:xfrm>
            <a:off x="1420148" y="1883002"/>
            <a:ext cx="9351699" cy="412985"/>
          </a:xfrm>
          <a:prstGeom prst="rect">
            <a:avLst/>
          </a:prstGeom>
          <a:ln>
            <a:noFill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BA86D1E-59D7-A1FA-0BB0-3C7E01121CF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69" t="23517" r="7396" b="64734"/>
          <a:stretch/>
        </p:blipFill>
        <p:spPr>
          <a:xfrm>
            <a:off x="8026400" y="1881161"/>
            <a:ext cx="2162176" cy="412985"/>
          </a:xfrm>
          <a:prstGeom prst="rect">
            <a:avLst/>
          </a:prstGeom>
          <a:ln>
            <a:noFill/>
          </a:ln>
        </p:spPr>
      </p:pic>
      <p:pic>
        <p:nvPicPr>
          <p:cNvPr id="5" name="Image 4" descr="Une image contenant Police, capture d’écran, Graphique, logo&#10;&#10;Description générée automatiquement">
            <a:extLst>
              <a:ext uri="{FF2B5EF4-FFF2-40B4-BE49-F238E27FC236}">
                <a16:creationId xmlns:a16="http://schemas.microsoft.com/office/drawing/2014/main" id="{399C9F23-6D64-C25B-A1DB-C9E440A298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7" y="3047174"/>
            <a:ext cx="1481806" cy="148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124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7564E0CF-A7EE-D893-BCA7-A8790F4468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14"/>
          <a:stretch/>
        </p:blipFill>
        <p:spPr>
          <a:xfrm>
            <a:off x="3142162" y="2512315"/>
            <a:ext cx="5907673" cy="39354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C5DA33E7-9144-00E5-4784-05E26F918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52D85A06-45C0-C2D7-D328-39633AE37922}"/>
              </a:ext>
            </a:extLst>
          </p:cNvPr>
          <p:cNvSpPr txBox="1">
            <a:spLocks/>
          </p:cNvSpPr>
          <p:nvPr/>
        </p:nvSpPr>
        <p:spPr>
          <a:xfrm>
            <a:off x="4459959" y="1572451"/>
            <a:ext cx="327208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Affichage et modification</a:t>
            </a:r>
            <a:endParaRPr lang="fr-CH" dirty="0"/>
          </a:p>
        </p:txBody>
      </p:sp>
      <p:pic>
        <p:nvPicPr>
          <p:cNvPr id="11" name="Image 10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5AC1396C-72B9-BBCD-880F-B6AC5ECB3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5C3670-6606-C36E-4C11-D0F954B71FEB}"/>
              </a:ext>
            </a:extLst>
          </p:cNvPr>
          <p:cNvSpPr/>
          <p:nvPr/>
        </p:nvSpPr>
        <p:spPr>
          <a:xfrm>
            <a:off x="3590926" y="3889934"/>
            <a:ext cx="2809874" cy="285750"/>
          </a:xfrm>
          <a:prstGeom prst="rect">
            <a:avLst/>
          </a:prstGeom>
          <a:solidFill>
            <a:srgbClr val="FF8324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6" name="Image 15" descr="Une image contenant Police, capture d’écran, Graphique, logo&#10;&#10;Description générée automatiquement">
            <a:extLst>
              <a:ext uri="{FF2B5EF4-FFF2-40B4-BE49-F238E27FC236}">
                <a16:creationId xmlns:a16="http://schemas.microsoft.com/office/drawing/2014/main" id="{1BF7FC0C-ECCB-7A40-4C95-1205FE9D4A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7" y="3047174"/>
            <a:ext cx="1481806" cy="1481806"/>
          </a:xfrm>
          <a:prstGeom prst="rect">
            <a:avLst/>
          </a:prstGeom>
        </p:spPr>
      </p:pic>
      <p:pic>
        <p:nvPicPr>
          <p:cNvPr id="21" name="Image 2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3293DD7E-D54D-C44A-055C-6FA8F1661EE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4" name="Image 23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35DA93BE-848E-487E-5608-D95A9770CB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EFE6156-FD8B-35EC-33F6-4DB9C52037F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7" r="1236" b="64734"/>
          <a:stretch/>
        </p:blipFill>
        <p:spPr>
          <a:xfrm>
            <a:off x="1420148" y="1883002"/>
            <a:ext cx="9351699" cy="412985"/>
          </a:xfrm>
          <a:prstGeom prst="rect">
            <a:avLst/>
          </a:prstGeom>
          <a:ln>
            <a:noFill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FA5B444-8FEB-C848-1C17-434386389400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70" t="23517" r="3272" b="64734"/>
          <a:stretch/>
        </p:blipFill>
        <p:spPr>
          <a:xfrm>
            <a:off x="10185401" y="1884564"/>
            <a:ext cx="393700" cy="4129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8385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B930A-B2A5-299D-629B-6C5C3433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18BBE034-09C9-CB49-0660-A3670008FF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14"/>
          <a:stretch/>
        </p:blipFill>
        <p:spPr>
          <a:xfrm>
            <a:off x="3142162" y="2512315"/>
            <a:ext cx="5907673" cy="39354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32C58573-598A-C400-0583-A70A3DA5AD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37A9A4DA-5427-F0B1-10A3-880FAFDC7FB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E4C15F18-30D7-61CD-B431-1A62DDA2CE80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AF4AB-C29C-5995-5138-7EB61CA31824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A42BF9E3-9A01-F7B7-FDEB-7BBE3E68DC2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B50FEB5A-C1DF-D22A-8AE8-13507055BCE3}"/>
              </a:ext>
            </a:extLst>
          </p:cNvPr>
          <p:cNvSpPr txBox="1">
            <a:spLocks/>
          </p:cNvSpPr>
          <p:nvPr/>
        </p:nvSpPr>
        <p:spPr>
          <a:xfrm>
            <a:off x="4459959" y="1572451"/>
            <a:ext cx="327208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Affichage et modification</a:t>
            </a:r>
            <a:endParaRPr lang="fr-CH" dirty="0"/>
          </a:p>
        </p:txBody>
      </p:sp>
      <p:pic>
        <p:nvPicPr>
          <p:cNvPr id="11" name="Image 10" descr="Une image contenant cercle, Graphique, symbole&#10;&#10;Description générée automatiquement">
            <a:extLst>
              <a:ext uri="{FF2B5EF4-FFF2-40B4-BE49-F238E27FC236}">
                <a16:creationId xmlns:a16="http://schemas.microsoft.com/office/drawing/2014/main" id="{70082BA7-5229-318A-E2F9-0A62ADFB54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798"/>
            <a:ext cx="957600" cy="957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7433CA-DCCB-CBCA-45BE-D8649E6B13C7}"/>
              </a:ext>
            </a:extLst>
          </p:cNvPr>
          <p:cNvSpPr/>
          <p:nvPr/>
        </p:nvSpPr>
        <p:spPr>
          <a:xfrm>
            <a:off x="3590925" y="2737409"/>
            <a:ext cx="5458909" cy="285750"/>
          </a:xfrm>
          <a:prstGeom prst="rect">
            <a:avLst/>
          </a:prstGeom>
          <a:solidFill>
            <a:srgbClr val="FF8324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6" name="Image 15" descr="Une image contenant Police, capture d’écran, Graphique, logo&#10;&#10;Description générée automatiquement">
            <a:extLst>
              <a:ext uri="{FF2B5EF4-FFF2-40B4-BE49-F238E27FC236}">
                <a16:creationId xmlns:a16="http://schemas.microsoft.com/office/drawing/2014/main" id="{CC7E631C-6864-FC49-6AEE-0643CD1B9E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7" y="3047174"/>
            <a:ext cx="1481806" cy="1481806"/>
          </a:xfrm>
          <a:prstGeom prst="rect">
            <a:avLst/>
          </a:prstGeom>
        </p:spPr>
      </p:pic>
      <p:pic>
        <p:nvPicPr>
          <p:cNvPr id="21" name="Image 2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4FAA471B-A74F-B546-032F-EA81C230E2D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24" name="Image 23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3F412329-405D-05AA-BBFA-AC45863DA3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D92D5CF-6C53-D325-A9CB-2A68EDA90FC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7" r="1236" b="64734"/>
          <a:stretch/>
        </p:blipFill>
        <p:spPr>
          <a:xfrm>
            <a:off x="1420148" y="1883002"/>
            <a:ext cx="9351699" cy="4129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2660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C5DA33E7-9144-00E5-4784-05E26F918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B240EE40-55FD-273A-B727-2ACD949064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21EDAC0E-1F28-A5CB-6BF6-007CF31D37E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3DE3A-EE86-C16F-8848-F0C8AE2E32CA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22DF18F2-4C48-BDED-F61F-F3341EAE9752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9C246C-E7C0-A17D-A333-0D67DE579ADC}"/>
              </a:ext>
            </a:extLst>
          </p:cNvPr>
          <p:cNvSpPr txBox="1">
            <a:spLocks/>
          </p:cNvSpPr>
          <p:nvPr/>
        </p:nvSpPr>
        <p:spPr>
          <a:xfrm>
            <a:off x="3334544" y="1568721"/>
            <a:ext cx="5522912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PDF</a:t>
            </a:r>
            <a:endParaRPr lang="fr-CH" dirty="0"/>
          </a:p>
        </p:txBody>
      </p:sp>
      <p:pic>
        <p:nvPicPr>
          <p:cNvPr id="4" name="Image 3" descr="Une image contenant Police, capture d’écran, Graphique, texte&#10;&#10;Description générée automatiquement">
            <a:extLst>
              <a:ext uri="{FF2B5EF4-FFF2-40B4-BE49-F238E27FC236}">
                <a16:creationId xmlns:a16="http://schemas.microsoft.com/office/drawing/2014/main" id="{4BBFB0B6-6335-E82F-E000-8A88BEB759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432"/>
            <a:ext cx="957600" cy="957600"/>
          </a:xfrm>
          <a:prstGeom prst="rect">
            <a:avLst/>
          </a:prstGeom>
        </p:spPr>
      </p:pic>
      <p:pic>
        <p:nvPicPr>
          <p:cNvPr id="5" name="Image 4" descr="Une image contenant Police, capture d’écran, Graphique, texte&#10;&#10;Description générée automatiquement">
            <a:extLst>
              <a:ext uri="{FF2B5EF4-FFF2-40B4-BE49-F238E27FC236}">
                <a16:creationId xmlns:a16="http://schemas.microsoft.com/office/drawing/2014/main" id="{6DCD688F-C55E-54DD-D73A-EC1CAF777E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727" y="2136297"/>
            <a:ext cx="3815183" cy="3815183"/>
          </a:xfrm>
          <a:prstGeom prst="rect">
            <a:avLst/>
          </a:prstGeom>
        </p:spPr>
      </p:pic>
      <p:pic>
        <p:nvPicPr>
          <p:cNvPr id="9" name="Image 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A213D2D9-A873-6A8B-20BA-766C43FDCBE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1" name="Image 10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06B7E0BD-133E-426F-BD03-BAB5C726B0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911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20FBE-EFD9-5BD2-E2E0-167358E97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CAF1A6B1-F39B-C702-FD28-039DC7F63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19" name="Image 1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9DC27A61-98F7-6C5C-F4E0-CF59EF1BCA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85"/>
          <a:stretch/>
        </p:blipFill>
        <p:spPr>
          <a:xfrm>
            <a:off x="0" y="5349875"/>
            <a:ext cx="3807822" cy="1513476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32268C27-B4E1-042A-89C1-77DCC4531D9D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FONCTIONEMENT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510689-CD60-750E-F512-A1C8F6803A31}"/>
              </a:ext>
            </a:extLst>
          </p:cNvPr>
          <p:cNvSpPr/>
          <p:nvPr/>
        </p:nvSpPr>
        <p:spPr>
          <a:xfrm>
            <a:off x="3334544" y="1504949"/>
            <a:ext cx="5522912" cy="54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3F0D7C0-DCEB-F188-F6A5-200F35646B40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B0CE69-B683-DB48-12D5-E509B0D0A679}"/>
              </a:ext>
            </a:extLst>
          </p:cNvPr>
          <p:cNvSpPr txBox="1">
            <a:spLocks/>
          </p:cNvSpPr>
          <p:nvPr/>
        </p:nvSpPr>
        <p:spPr>
          <a:xfrm>
            <a:off x="3334544" y="1568721"/>
            <a:ext cx="5522912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PDF</a:t>
            </a:r>
            <a:endParaRPr lang="fr-CH" dirty="0"/>
          </a:p>
        </p:txBody>
      </p:sp>
      <p:pic>
        <p:nvPicPr>
          <p:cNvPr id="4" name="Image 3" descr="Une image contenant Police, capture d’écran, Graphique, texte&#10;&#10;Description générée automatiquement">
            <a:extLst>
              <a:ext uri="{FF2B5EF4-FFF2-40B4-BE49-F238E27FC236}">
                <a16:creationId xmlns:a16="http://schemas.microsoft.com/office/drawing/2014/main" id="{D032EB40-7CF5-F621-6C43-05BAF4B808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199" y="5825432"/>
            <a:ext cx="957600" cy="957600"/>
          </a:xfrm>
          <a:prstGeom prst="rect">
            <a:avLst/>
          </a:prstGeom>
        </p:spPr>
      </p:pic>
      <p:pic>
        <p:nvPicPr>
          <p:cNvPr id="9" name="Image 8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E3441F3C-8EE7-86F6-33A8-04230B10B7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1" name="Image 10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80248100-A32E-969A-1D63-325E6A88DE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598" y="220938"/>
            <a:ext cx="281506" cy="281506"/>
          </a:xfrm>
          <a:prstGeom prst="rect">
            <a:avLst/>
          </a:prstGeom>
        </p:spPr>
      </p:pic>
      <p:pic>
        <p:nvPicPr>
          <p:cNvPr id="7" name="Image 12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5FD6608A-4451-61E3-B50E-6E35DFF452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404" y="1912902"/>
            <a:ext cx="8244114" cy="43704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5882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léger, art&#10;&#10;Description générée automatiquement avec une confiance moyenne">
            <a:extLst>
              <a:ext uri="{FF2B5EF4-FFF2-40B4-BE49-F238E27FC236}">
                <a16:creationId xmlns:a16="http://schemas.microsoft.com/office/drawing/2014/main" id="{3ADEC4B8-74A8-6906-9E01-B000B284C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" y="0"/>
            <a:ext cx="4902969" cy="6858000"/>
          </a:xfrm>
          <a:prstGeom prst="rect">
            <a:avLst/>
          </a:prstGeom>
        </p:spPr>
      </p:pic>
      <p:pic>
        <p:nvPicPr>
          <p:cNvPr id="18" name="Image 17" descr="Une image contenant capture d’écran, obscurité, noir, espace&#10;&#10;Description générée automatiquement">
            <a:extLst>
              <a:ext uri="{FF2B5EF4-FFF2-40B4-BE49-F238E27FC236}">
                <a16:creationId xmlns:a16="http://schemas.microsoft.com/office/drawing/2014/main" id="{76098BFA-D95F-59BA-D109-7303EC83E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968067" y="0"/>
            <a:ext cx="5249333" cy="6858000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0C530001-B230-3D10-2F5F-9885472943F3}"/>
              </a:ext>
            </a:extLst>
          </p:cNvPr>
          <p:cNvSpPr txBox="1">
            <a:spLocks/>
          </p:cNvSpPr>
          <p:nvPr/>
        </p:nvSpPr>
        <p:spPr>
          <a:xfrm>
            <a:off x="1523999" y="2551970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ORGANISATION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22DCA6C-3DD4-FC80-A8AA-5E3378FA52D1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BF1F81-7AF2-989A-742F-26483CCDE3BD}"/>
              </a:ext>
            </a:extLst>
          </p:cNvPr>
          <p:cNvSpPr/>
          <p:nvPr/>
        </p:nvSpPr>
        <p:spPr>
          <a:xfrm>
            <a:off x="3749674" y="3713752"/>
            <a:ext cx="4759325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6" name="Image 5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161956FE-1213-E939-978E-409BD269FED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8" name="Image 7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250F3280-01DA-B254-CB43-A29D334206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120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896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CC8792B2-A450-DF45-FB9C-FA9491B5F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5344523"/>
            <a:ext cx="5400000" cy="1513477"/>
          </a:xfrm>
          <a:prstGeom prst="rect">
            <a:avLst/>
          </a:prstGeom>
        </p:spPr>
      </p:pic>
      <p:pic>
        <p:nvPicPr>
          <p:cNvPr id="15" name="Image 14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D8DB17E5-462D-D7CA-B588-6A750EFFD6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9453" cy="5400000"/>
          </a:xfrm>
          <a:prstGeom prst="rect">
            <a:avLst/>
          </a:prstGeom>
        </p:spPr>
      </p:pic>
      <p:sp>
        <p:nvSpPr>
          <p:cNvPr id="23" name="Titre 1">
            <a:extLst>
              <a:ext uri="{FF2B5EF4-FFF2-40B4-BE49-F238E27FC236}">
                <a16:creationId xmlns:a16="http://schemas.microsoft.com/office/drawing/2014/main" id="{DF99ABDB-987A-DA66-64BD-0FF0233203F7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ORGANISATION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CBA37B-237E-69D6-DFAE-B7FA7BF1776A}"/>
              </a:ext>
            </a:extLst>
          </p:cNvPr>
          <p:cNvSpPr/>
          <p:nvPr/>
        </p:nvSpPr>
        <p:spPr>
          <a:xfrm>
            <a:off x="3749674" y="1513477"/>
            <a:ext cx="4759325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428858-27B6-1E2F-916F-61588F853375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082A4510-D074-5ECB-14B8-8C33BA136DDB}"/>
              </a:ext>
            </a:extLst>
          </p:cNvPr>
          <p:cNvGrpSpPr/>
          <p:nvPr/>
        </p:nvGrpSpPr>
        <p:grpSpPr>
          <a:xfrm>
            <a:off x="1729880" y="2571745"/>
            <a:ext cx="2141167" cy="2699260"/>
            <a:chOff x="1729880" y="2571745"/>
            <a:chExt cx="2141167" cy="2699260"/>
          </a:xfrm>
        </p:grpSpPr>
        <p:pic>
          <p:nvPicPr>
            <p:cNvPr id="27" name="Image 26" descr="Une image contenant orange, capture d’écran&#10;&#10;Description générée automatiquement">
              <a:extLst>
                <a:ext uri="{FF2B5EF4-FFF2-40B4-BE49-F238E27FC236}">
                  <a16:creationId xmlns:a16="http://schemas.microsoft.com/office/drawing/2014/main" id="{F58E1771-26B2-6A75-EB9B-555CE6299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9880" y="2571745"/>
              <a:ext cx="2141167" cy="2141167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AADCAA24-7143-9488-3C4C-6FECFDA4B558}"/>
                </a:ext>
              </a:extLst>
            </p:cNvPr>
            <p:cNvSpPr txBox="1"/>
            <p:nvPr/>
          </p:nvSpPr>
          <p:spPr>
            <a:xfrm>
              <a:off x="1788978" y="4809340"/>
              <a:ext cx="2022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400" dirty="0"/>
                <a:t>Chef de Projet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518DDC7C-4DE0-1CF4-3005-04F9F3A2FA4D}"/>
              </a:ext>
            </a:extLst>
          </p:cNvPr>
          <p:cNvGrpSpPr/>
          <p:nvPr/>
        </p:nvGrpSpPr>
        <p:grpSpPr>
          <a:xfrm>
            <a:off x="5048947" y="2571745"/>
            <a:ext cx="2141167" cy="2699260"/>
            <a:chOff x="5048947" y="2571745"/>
            <a:chExt cx="2141167" cy="2699260"/>
          </a:xfrm>
        </p:grpSpPr>
        <p:pic>
          <p:nvPicPr>
            <p:cNvPr id="25" name="Image 24" descr="Une image contenant cercle, Graphique&#10;&#10;Description générée automatiquement">
              <a:extLst>
                <a:ext uri="{FF2B5EF4-FFF2-40B4-BE49-F238E27FC236}">
                  <a16:creationId xmlns:a16="http://schemas.microsoft.com/office/drawing/2014/main" id="{DC591F8E-1D1D-CDAC-CC18-3AACDE46F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8947" y="2571745"/>
              <a:ext cx="2141167" cy="2141167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204B1557-5D43-48FC-1532-1F53737E8A01}"/>
                </a:ext>
              </a:extLst>
            </p:cNvPr>
            <p:cNvSpPr txBox="1"/>
            <p:nvPr/>
          </p:nvSpPr>
          <p:spPr>
            <a:xfrm>
              <a:off x="5084514" y="4809340"/>
              <a:ext cx="2022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400" dirty="0"/>
                <a:t>Sprints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0FA65078-051B-8ED6-8F22-F7328751E54F}"/>
              </a:ext>
            </a:extLst>
          </p:cNvPr>
          <p:cNvGrpSpPr/>
          <p:nvPr/>
        </p:nvGrpSpPr>
        <p:grpSpPr>
          <a:xfrm>
            <a:off x="8480515" y="2592227"/>
            <a:ext cx="2022970" cy="2678778"/>
            <a:chOff x="8480515" y="2592227"/>
            <a:chExt cx="2022970" cy="2678778"/>
          </a:xfrm>
        </p:grpSpPr>
        <p:pic>
          <p:nvPicPr>
            <p:cNvPr id="5" name="Image 4" descr="Une image contenant texte, Police, capture d’écran, Graphique&#10;&#10;Description générée automatiquement">
              <a:extLst>
                <a:ext uri="{FF2B5EF4-FFF2-40B4-BE49-F238E27FC236}">
                  <a16:creationId xmlns:a16="http://schemas.microsoft.com/office/drawing/2014/main" id="{B659CF79-5BA4-77C3-B06C-7A6F45760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329" y="2592227"/>
              <a:ext cx="1987342" cy="1987342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0FB2D0B2-581F-3496-B58B-B3B360D9125A}"/>
                </a:ext>
              </a:extLst>
            </p:cNvPr>
            <p:cNvSpPr txBox="1"/>
            <p:nvPr/>
          </p:nvSpPr>
          <p:spPr>
            <a:xfrm>
              <a:off x="8480515" y="4809340"/>
              <a:ext cx="2022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400" dirty="0"/>
                <a:t>User Stories</a:t>
              </a:r>
            </a:p>
          </p:txBody>
        </p:sp>
      </p:grpSp>
      <p:pic>
        <p:nvPicPr>
          <p:cNvPr id="13" name="Image 12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024A3A5A-1E58-6AD4-F47C-768159F5D59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6" name="Image 15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EB6DE050-1868-5D56-4779-F2C46CBEE2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120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03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E8F3138F-2AC1-93D9-9A04-1351F9487131}"/>
              </a:ext>
            </a:extLst>
          </p:cNvPr>
          <p:cNvGrpSpPr/>
          <p:nvPr/>
        </p:nvGrpSpPr>
        <p:grpSpPr>
          <a:xfrm>
            <a:off x="1729880" y="7913008"/>
            <a:ext cx="2141167" cy="2699260"/>
            <a:chOff x="1729880" y="2571745"/>
            <a:chExt cx="2141167" cy="2699260"/>
          </a:xfrm>
        </p:grpSpPr>
        <p:pic>
          <p:nvPicPr>
            <p:cNvPr id="6" name="Image 5" descr="Une image contenant orange, capture d’écran&#10;&#10;Description générée automatiquement">
              <a:extLst>
                <a:ext uri="{FF2B5EF4-FFF2-40B4-BE49-F238E27FC236}">
                  <a16:creationId xmlns:a16="http://schemas.microsoft.com/office/drawing/2014/main" id="{A781BE3F-ACD0-7A78-8DF8-A5F4DE41D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9880" y="2571745"/>
              <a:ext cx="2141167" cy="2141167"/>
            </a:xfrm>
            <a:prstGeom prst="rect">
              <a:avLst/>
            </a:prstGeom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473DC119-A01F-B3B0-7760-DE70043CE071}"/>
                </a:ext>
              </a:extLst>
            </p:cNvPr>
            <p:cNvSpPr txBox="1"/>
            <p:nvPr/>
          </p:nvSpPr>
          <p:spPr>
            <a:xfrm>
              <a:off x="1788978" y="4809340"/>
              <a:ext cx="2022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400" dirty="0"/>
                <a:t>Chef de Projet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C5F1ADBB-5469-3E0E-7F23-A0241DAC92A2}"/>
              </a:ext>
            </a:extLst>
          </p:cNvPr>
          <p:cNvGrpSpPr/>
          <p:nvPr/>
        </p:nvGrpSpPr>
        <p:grpSpPr>
          <a:xfrm>
            <a:off x="5048947" y="7913008"/>
            <a:ext cx="2141167" cy="2699260"/>
            <a:chOff x="5048947" y="2571745"/>
            <a:chExt cx="2141167" cy="2699260"/>
          </a:xfrm>
        </p:grpSpPr>
        <p:pic>
          <p:nvPicPr>
            <p:cNvPr id="11" name="Image 10" descr="Une image contenant cercle, Graphique&#10;&#10;Description générée automatiquement">
              <a:extLst>
                <a:ext uri="{FF2B5EF4-FFF2-40B4-BE49-F238E27FC236}">
                  <a16:creationId xmlns:a16="http://schemas.microsoft.com/office/drawing/2014/main" id="{C64A1875-6F22-B0DA-02A9-9F896D756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8947" y="2571745"/>
              <a:ext cx="2141167" cy="2141167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2CA0075-B586-1C2A-C396-2B23DA2E83E6}"/>
                </a:ext>
              </a:extLst>
            </p:cNvPr>
            <p:cNvSpPr txBox="1"/>
            <p:nvPr/>
          </p:nvSpPr>
          <p:spPr>
            <a:xfrm>
              <a:off x="5084514" y="4809340"/>
              <a:ext cx="2022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400" dirty="0"/>
                <a:t>Sprints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FB94E2E3-DC64-19EE-FCE5-D12A78A9A65E}"/>
              </a:ext>
            </a:extLst>
          </p:cNvPr>
          <p:cNvGrpSpPr/>
          <p:nvPr/>
        </p:nvGrpSpPr>
        <p:grpSpPr>
          <a:xfrm>
            <a:off x="8480515" y="7933490"/>
            <a:ext cx="2022970" cy="2678778"/>
            <a:chOff x="8480515" y="2592227"/>
            <a:chExt cx="2022970" cy="2678778"/>
          </a:xfrm>
        </p:grpSpPr>
        <p:pic>
          <p:nvPicPr>
            <p:cNvPr id="14" name="Image 13" descr="Une image contenant texte, Police, capture d’écran, Graphique&#10;&#10;Description générée automatiquement">
              <a:extLst>
                <a:ext uri="{FF2B5EF4-FFF2-40B4-BE49-F238E27FC236}">
                  <a16:creationId xmlns:a16="http://schemas.microsoft.com/office/drawing/2014/main" id="{EA00D7B7-9244-494B-DD29-00A2875F9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329" y="2592227"/>
              <a:ext cx="1987342" cy="1987342"/>
            </a:xfrm>
            <a:prstGeom prst="rect">
              <a:avLst/>
            </a:prstGeom>
          </p:spPr>
        </p:pic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039628C8-D66A-3DDB-5AA6-993FE7FEDBA9}"/>
                </a:ext>
              </a:extLst>
            </p:cNvPr>
            <p:cNvSpPr txBox="1"/>
            <p:nvPr/>
          </p:nvSpPr>
          <p:spPr>
            <a:xfrm>
              <a:off x="8480515" y="4809340"/>
              <a:ext cx="2022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400" dirty="0"/>
                <a:t>User Stories</a:t>
              </a:r>
            </a:p>
          </p:txBody>
        </p:sp>
      </p:grpSp>
      <p:pic>
        <p:nvPicPr>
          <p:cNvPr id="10" name="Image 9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CC8792B2-A450-DF45-FB9C-FA9491B5FF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5344523"/>
            <a:ext cx="5400000" cy="1513477"/>
          </a:xfrm>
          <a:prstGeom prst="rect">
            <a:avLst/>
          </a:prstGeom>
        </p:spPr>
      </p:pic>
      <p:pic>
        <p:nvPicPr>
          <p:cNvPr id="15" name="Image 14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D8DB17E5-462D-D7CA-B588-6A750EFFD6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9453" cy="5400000"/>
          </a:xfrm>
          <a:prstGeom prst="rect">
            <a:avLst/>
          </a:prstGeom>
        </p:spPr>
      </p:pic>
      <p:sp>
        <p:nvSpPr>
          <p:cNvPr id="23" name="Titre 1">
            <a:extLst>
              <a:ext uri="{FF2B5EF4-FFF2-40B4-BE49-F238E27FC236}">
                <a16:creationId xmlns:a16="http://schemas.microsoft.com/office/drawing/2014/main" id="{DF99ABDB-987A-DA66-64BD-0FF0233203F7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ORGANISATION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CBA37B-237E-69D6-DFAE-B7FA7BF1776A}"/>
              </a:ext>
            </a:extLst>
          </p:cNvPr>
          <p:cNvSpPr/>
          <p:nvPr/>
        </p:nvSpPr>
        <p:spPr>
          <a:xfrm>
            <a:off x="3749674" y="1513477"/>
            <a:ext cx="4759325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428858-27B6-1E2F-916F-61588F853375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1700F490-9370-867A-E434-4CD03FC273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7170635"/>
              </p:ext>
            </p:extLst>
          </p:nvPr>
        </p:nvGraphicFramePr>
        <p:xfrm>
          <a:off x="2111255" y="1787312"/>
          <a:ext cx="7969488" cy="4031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5" name="Image 4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0C68237C-6C29-9C9F-9273-EEA23A481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7" name="Image 6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AF5F4C83-9794-15CE-2315-522C8FC5BE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120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1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CC8792B2-A450-DF45-FB9C-FA9491B5F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5344523"/>
            <a:ext cx="5400000" cy="1513477"/>
          </a:xfrm>
          <a:prstGeom prst="rect">
            <a:avLst/>
          </a:prstGeom>
        </p:spPr>
      </p:pic>
      <p:pic>
        <p:nvPicPr>
          <p:cNvPr id="15" name="Image 14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D8DB17E5-462D-D7CA-B588-6A750EFFD6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9453" cy="5400000"/>
          </a:xfrm>
          <a:prstGeom prst="rect">
            <a:avLst/>
          </a:prstGeom>
        </p:spPr>
      </p:pic>
      <p:sp>
        <p:nvSpPr>
          <p:cNvPr id="23" name="Titre 1">
            <a:extLst>
              <a:ext uri="{FF2B5EF4-FFF2-40B4-BE49-F238E27FC236}">
                <a16:creationId xmlns:a16="http://schemas.microsoft.com/office/drawing/2014/main" id="{DF99ABDB-987A-DA66-64BD-0FF0233203F7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ORGANISATION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CBA37B-237E-69D6-DFAE-B7FA7BF1776A}"/>
              </a:ext>
            </a:extLst>
          </p:cNvPr>
          <p:cNvSpPr/>
          <p:nvPr/>
        </p:nvSpPr>
        <p:spPr>
          <a:xfrm>
            <a:off x="3749674" y="1513477"/>
            <a:ext cx="4759325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428858-27B6-1E2F-916F-61588F853375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499E70F2-EFB8-AD3E-AE68-4D346BE9E4F2}"/>
              </a:ext>
            </a:extLst>
          </p:cNvPr>
          <p:cNvGrpSpPr/>
          <p:nvPr/>
        </p:nvGrpSpPr>
        <p:grpSpPr>
          <a:xfrm>
            <a:off x="3763416" y="1700589"/>
            <a:ext cx="5072722" cy="4039289"/>
            <a:chOff x="3763416" y="1700589"/>
            <a:chExt cx="5072722" cy="4039289"/>
          </a:xfrm>
        </p:grpSpPr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922EFB4-A91C-080F-4EA6-FC59D9A01867}"/>
                </a:ext>
              </a:extLst>
            </p:cNvPr>
            <p:cNvSpPr txBox="1"/>
            <p:nvPr/>
          </p:nvSpPr>
          <p:spPr>
            <a:xfrm>
              <a:off x="4864210" y="1768446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/>
                <a:t>Visual Studio 2024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070CE78D-EB98-575F-9B4E-B148E24ACB7C}"/>
                </a:ext>
              </a:extLst>
            </p:cNvPr>
            <p:cNvSpPr txBox="1"/>
            <p:nvPr/>
          </p:nvSpPr>
          <p:spPr>
            <a:xfrm>
              <a:off x="4864210" y="2629770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/>
                <a:t>Suite office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D1A4DA0C-ED91-AE95-9EA5-52253039B52E}"/>
                </a:ext>
              </a:extLst>
            </p:cNvPr>
            <p:cNvSpPr txBox="1"/>
            <p:nvPr/>
          </p:nvSpPr>
          <p:spPr>
            <a:xfrm>
              <a:off x="4864212" y="3449869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/>
                <a:t>GitHub</a:t>
              </a:r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109CD81F-1B8E-1006-2F20-DDBF764E7CCF}"/>
                </a:ext>
              </a:extLst>
            </p:cNvPr>
            <p:cNvSpPr txBox="1"/>
            <p:nvPr/>
          </p:nvSpPr>
          <p:spPr>
            <a:xfrm>
              <a:off x="4864212" y="4291339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/>
                <a:t>Draw.io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E584B6D0-0975-3945-0F70-97830A72B817}"/>
                </a:ext>
              </a:extLst>
            </p:cNvPr>
            <p:cNvSpPr txBox="1"/>
            <p:nvPr/>
          </p:nvSpPr>
          <p:spPr>
            <a:xfrm>
              <a:off x="4864213" y="5144308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 err="1"/>
                <a:t>Figma</a:t>
              </a:r>
              <a:endParaRPr lang="fr-CH" sz="2800" dirty="0"/>
            </a:p>
          </p:txBody>
        </p:sp>
        <p:pic>
          <p:nvPicPr>
            <p:cNvPr id="36" name="Image 35" descr="Une image contenant clipart, Graphique, conception, dessin humoristique&#10;&#10;Description générée automatiquement">
              <a:extLst>
                <a:ext uri="{FF2B5EF4-FFF2-40B4-BE49-F238E27FC236}">
                  <a16:creationId xmlns:a16="http://schemas.microsoft.com/office/drawing/2014/main" id="{9AE1E27A-A1DA-9CB0-5518-FD329EB3E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3416" y="4223549"/>
              <a:ext cx="658446" cy="658800"/>
            </a:xfrm>
            <a:prstGeom prst="rect">
              <a:avLst/>
            </a:prstGeom>
          </p:spPr>
        </p:pic>
        <p:pic>
          <p:nvPicPr>
            <p:cNvPr id="37" name="Image 36" descr="Une image contenant Caractère coloré, Graphique, cercle, graphisme&#10;&#10;Description générée automatiquement">
              <a:extLst>
                <a:ext uri="{FF2B5EF4-FFF2-40B4-BE49-F238E27FC236}">
                  <a16:creationId xmlns:a16="http://schemas.microsoft.com/office/drawing/2014/main" id="{A65AF7B5-139C-3526-D822-66CB87CE3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2447" y="5081078"/>
              <a:ext cx="439288" cy="658800"/>
            </a:xfrm>
            <a:prstGeom prst="rect">
              <a:avLst/>
            </a:prstGeom>
          </p:spPr>
        </p:pic>
        <p:pic>
          <p:nvPicPr>
            <p:cNvPr id="38" name="Image 37" descr="Une image contenant chat, mammifère, silhouette&#10;&#10;Description générée automatiquement">
              <a:extLst>
                <a:ext uri="{FF2B5EF4-FFF2-40B4-BE49-F238E27FC236}">
                  <a16:creationId xmlns:a16="http://schemas.microsoft.com/office/drawing/2014/main" id="{17E74F22-4BD0-8A36-BFFC-CFA267769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3416" y="3382079"/>
              <a:ext cx="658800" cy="658800"/>
            </a:xfrm>
            <a:prstGeom prst="rect">
              <a:avLst/>
            </a:prstGeom>
          </p:spPr>
        </p:pic>
        <p:pic>
          <p:nvPicPr>
            <p:cNvPr id="39" name="Image 38" descr="Une image contenant Graphique, graphisme, capture d’écran, orange&#10;&#10;Description générée automatiquement">
              <a:extLst>
                <a:ext uri="{FF2B5EF4-FFF2-40B4-BE49-F238E27FC236}">
                  <a16:creationId xmlns:a16="http://schemas.microsoft.com/office/drawing/2014/main" id="{621889AF-6DC8-88F5-3CFC-C3DB2F228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1720" y="2540609"/>
              <a:ext cx="540742" cy="658800"/>
            </a:xfrm>
            <a:prstGeom prst="rect">
              <a:avLst/>
            </a:prstGeom>
          </p:spPr>
        </p:pic>
        <p:pic>
          <p:nvPicPr>
            <p:cNvPr id="40" name="Image 39" descr="Une image contenant Graphique, Lilas, Caractère coloré, violet&#10;&#10;Description générée automatiquement">
              <a:extLst>
                <a:ext uri="{FF2B5EF4-FFF2-40B4-BE49-F238E27FC236}">
                  <a16:creationId xmlns:a16="http://schemas.microsoft.com/office/drawing/2014/main" id="{9FFD57C2-60DE-9CB1-28ED-1CA99F596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3416" y="1700589"/>
              <a:ext cx="657350" cy="657350"/>
            </a:xfrm>
            <a:prstGeom prst="rect">
              <a:avLst/>
            </a:prstGeom>
          </p:spPr>
        </p:pic>
      </p:grpSp>
      <p:pic>
        <p:nvPicPr>
          <p:cNvPr id="41" name="Image 4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34012DB5-3900-2412-0D75-EB79D73600E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44" name="Image 43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1D160251-29A4-8189-D0FC-73157607E8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120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10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325FDDD-A4C9-39C0-E1F9-D38A7DE164FD}"/>
              </a:ext>
            </a:extLst>
          </p:cNvPr>
          <p:cNvSpPr txBox="1">
            <a:spLocks/>
          </p:cNvSpPr>
          <p:nvPr/>
        </p:nvSpPr>
        <p:spPr>
          <a:xfrm>
            <a:off x="1523999" y="2543702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MOMENTS CLÉ</a:t>
            </a:r>
          </a:p>
        </p:txBody>
      </p:sp>
      <p:pic>
        <p:nvPicPr>
          <p:cNvPr id="15" name="Image 14" descr="Une image contenant léger, art&#10;&#10;Description générée automatiquement avec une confiance moyenne">
            <a:extLst>
              <a:ext uri="{FF2B5EF4-FFF2-40B4-BE49-F238E27FC236}">
                <a16:creationId xmlns:a16="http://schemas.microsoft.com/office/drawing/2014/main" id="{3ADEC4B8-74A8-6906-9E01-B000B284C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" y="0"/>
            <a:ext cx="490296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C753C7A-D450-8762-5159-9F0EC5EC5C00}"/>
              </a:ext>
            </a:extLst>
          </p:cNvPr>
          <p:cNvSpPr/>
          <p:nvPr/>
        </p:nvSpPr>
        <p:spPr>
          <a:xfrm>
            <a:off x="3824288" y="3710495"/>
            <a:ext cx="458390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22DCA6C-3DD4-FC80-A8AA-5E3378FA52D1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18" name="Image 17" descr="Une image contenant capture d’écran, obscurité, noir, espace&#10;&#10;Description générée automatiquement">
            <a:extLst>
              <a:ext uri="{FF2B5EF4-FFF2-40B4-BE49-F238E27FC236}">
                <a16:creationId xmlns:a16="http://schemas.microsoft.com/office/drawing/2014/main" id="{76098BFA-D95F-59BA-D109-7303EC83E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968067" y="0"/>
            <a:ext cx="5249333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EBEE83-A21F-AD4E-A3BA-0AE1D39BACD2}"/>
              </a:ext>
            </a:extLst>
          </p:cNvPr>
          <p:cNvSpPr/>
          <p:nvPr/>
        </p:nvSpPr>
        <p:spPr>
          <a:xfrm>
            <a:off x="7088981" y="321469"/>
            <a:ext cx="447675" cy="409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8" name="Image 7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6FC33249-7281-3E35-6099-382C3A2E9E7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0" name="Image 9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5AC5C3AE-001B-33C9-B620-B2643078DC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402" y="220938"/>
            <a:ext cx="281506" cy="281506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EEEA7E25-A0AC-8E9E-08A4-AF069D89D3D8}"/>
              </a:ext>
            </a:extLst>
          </p:cNvPr>
          <p:cNvGrpSpPr/>
          <p:nvPr/>
        </p:nvGrpSpPr>
        <p:grpSpPr>
          <a:xfrm>
            <a:off x="-5351562" y="1700589"/>
            <a:ext cx="5072722" cy="4039289"/>
            <a:chOff x="3763416" y="1700589"/>
            <a:chExt cx="5072722" cy="4039289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06779727-3127-B22C-ABDC-82EB9EC4E6FC}"/>
                </a:ext>
              </a:extLst>
            </p:cNvPr>
            <p:cNvSpPr txBox="1"/>
            <p:nvPr/>
          </p:nvSpPr>
          <p:spPr>
            <a:xfrm>
              <a:off x="4864210" y="1768446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/>
                <a:t>Visual Studio Code 2024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D89C123-632D-81D6-C3B3-7C3917FA22E8}"/>
                </a:ext>
              </a:extLst>
            </p:cNvPr>
            <p:cNvSpPr txBox="1"/>
            <p:nvPr/>
          </p:nvSpPr>
          <p:spPr>
            <a:xfrm>
              <a:off x="4864210" y="2629770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/>
                <a:t>Suite office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640E140-A7A0-8D04-801B-EA99D708F712}"/>
                </a:ext>
              </a:extLst>
            </p:cNvPr>
            <p:cNvSpPr txBox="1"/>
            <p:nvPr/>
          </p:nvSpPr>
          <p:spPr>
            <a:xfrm>
              <a:off x="4864212" y="3449869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/>
                <a:t>GitHub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F8E24A4F-F9E3-C80E-F4A9-9F891446FC93}"/>
                </a:ext>
              </a:extLst>
            </p:cNvPr>
            <p:cNvSpPr txBox="1"/>
            <p:nvPr/>
          </p:nvSpPr>
          <p:spPr>
            <a:xfrm>
              <a:off x="4864212" y="4291339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/>
                <a:t>Draw.io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66B1E913-899E-0E7A-3E25-1D452A215F0D}"/>
                </a:ext>
              </a:extLst>
            </p:cNvPr>
            <p:cNvSpPr txBox="1"/>
            <p:nvPr/>
          </p:nvSpPr>
          <p:spPr>
            <a:xfrm>
              <a:off x="4864213" y="5144308"/>
              <a:ext cx="3971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H" sz="2800" dirty="0" err="1"/>
                <a:t>Figma</a:t>
              </a:r>
              <a:endParaRPr lang="fr-CH" sz="2800" dirty="0"/>
            </a:p>
          </p:txBody>
        </p:sp>
        <p:pic>
          <p:nvPicPr>
            <p:cNvPr id="17" name="Image 16" descr="Une image contenant clipart, Graphique, conception, dessin humoristique&#10;&#10;Description générée automatiquement">
              <a:extLst>
                <a:ext uri="{FF2B5EF4-FFF2-40B4-BE49-F238E27FC236}">
                  <a16:creationId xmlns:a16="http://schemas.microsoft.com/office/drawing/2014/main" id="{ACEA1454-8C36-8940-1C51-7670FDB4B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3416" y="4223549"/>
              <a:ext cx="658446" cy="658800"/>
            </a:xfrm>
            <a:prstGeom prst="rect">
              <a:avLst/>
            </a:prstGeom>
          </p:spPr>
        </p:pic>
        <p:pic>
          <p:nvPicPr>
            <p:cNvPr id="19" name="Image 18" descr="Une image contenant Caractère coloré, Graphique, cercle, graphisme&#10;&#10;Description générée automatiquement">
              <a:extLst>
                <a:ext uri="{FF2B5EF4-FFF2-40B4-BE49-F238E27FC236}">
                  <a16:creationId xmlns:a16="http://schemas.microsoft.com/office/drawing/2014/main" id="{7783A007-8B50-4A23-9E8C-D694043C8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2447" y="5081078"/>
              <a:ext cx="439288" cy="658800"/>
            </a:xfrm>
            <a:prstGeom prst="rect">
              <a:avLst/>
            </a:prstGeom>
          </p:spPr>
        </p:pic>
        <p:pic>
          <p:nvPicPr>
            <p:cNvPr id="20" name="Image 19" descr="Une image contenant chat, mammifère, silhouette&#10;&#10;Description générée automatiquement">
              <a:extLst>
                <a:ext uri="{FF2B5EF4-FFF2-40B4-BE49-F238E27FC236}">
                  <a16:creationId xmlns:a16="http://schemas.microsoft.com/office/drawing/2014/main" id="{36C4AD96-B72A-10B6-9732-42BA3F68D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3416" y="3382079"/>
              <a:ext cx="658800" cy="658800"/>
            </a:xfrm>
            <a:prstGeom prst="rect">
              <a:avLst/>
            </a:prstGeom>
          </p:spPr>
        </p:pic>
        <p:pic>
          <p:nvPicPr>
            <p:cNvPr id="21" name="Image 20" descr="Une image contenant Graphique, graphisme, capture d’écran, orange&#10;&#10;Description générée automatiquement">
              <a:extLst>
                <a:ext uri="{FF2B5EF4-FFF2-40B4-BE49-F238E27FC236}">
                  <a16:creationId xmlns:a16="http://schemas.microsoft.com/office/drawing/2014/main" id="{2F20B72E-F7B2-4F08-D017-606DDA340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1720" y="2540609"/>
              <a:ext cx="540742" cy="658800"/>
            </a:xfrm>
            <a:prstGeom prst="rect">
              <a:avLst/>
            </a:prstGeom>
          </p:spPr>
        </p:pic>
        <p:pic>
          <p:nvPicPr>
            <p:cNvPr id="22" name="Image 21" descr="Une image contenant Graphique, Lilas, Caractère coloré, violet&#10;&#10;Description générée automatiquement">
              <a:extLst>
                <a:ext uri="{FF2B5EF4-FFF2-40B4-BE49-F238E27FC236}">
                  <a16:creationId xmlns:a16="http://schemas.microsoft.com/office/drawing/2014/main" id="{E9D59333-1347-08FB-D765-1B623AEAD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3416" y="1700589"/>
              <a:ext cx="657350" cy="657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5482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C5DA33E7-9144-00E5-4784-05E26F918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ABD5D0-C479-12AA-B1EE-CE279AF97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611" y="2148304"/>
            <a:ext cx="9444751" cy="2708486"/>
          </a:xfrm>
          <a:prstGeom prst="rect">
            <a:avLst/>
          </a:prstGeom>
        </p:spPr>
      </p:pic>
      <p:pic>
        <p:nvPicPr>
          <p:cNvPr id="9" name="Image 8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E3C6CF36-E993-6E41-ACFD-0294F93CA3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sp>
        <p:nvSpPr>
          <p:cNvPr id="2" name="Sous-titre 2">
            <a:extLst>
              <a:ext uri="{FF2B5EF4-FFF2-40B4-BE49-F238E27FC236}">
                <a16:creationId xmlns:a16="http://schemas.microsoft.com/office/drawing/2014/main" id="{3E73BB49-F760-2961-519A-3227C2CA5947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FEA7085-D1CD-149C-1884-DC403E2F4D2E}"/>
              </a:ext>
            </a:extLst>
          </p:cNvPr>
          <p:cNvCxnSpPr>
            <a:cxnSpLocks/>
          </p:cNvCxnSpPr>
          <p:nvPr/>
        </p:nvCxnSpPr>
        <p:spPr>
          <a:xfrm>
            <a:off x="3853981" y="3380001"/>
            <a:ext cx="6906379" cy="0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re 1">
            <a:extLst>
              <a:ext uri="{FF2B5EF4-FFF2-40B4-BE49-F238E27FC236}">
                <a16:creationId xmlns:a16="http://schemas.microsoft.com/office/drawing/2014/main" id="{650E1378-AFA6-5743-A52E-7183A3684656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MOMENTS CLÉ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794BF7-F719-3862-9287-9123F18EB4E2}"/>
              </a:ext>
            </a:extLst>
          </p:cNvPr>
          <p:cNvSpPr/>
          <p:nvPr/>
        </p:nvSpPr>
        <p:spPr>
          <a:xfrm>
            <a:off x="3824288" y="1513477"/>
            <a:ext cx="458390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947683-40F4-DD6A-000A-BE1883C33553}"/>
              </a:ext>
            </a:extLst>
          </p:cNvPr>
          <p:cNvSpPr txBox="1"/>
          <p:nvPr/>
        </p:nvSpPr>
        <p:spPr>
          <a:xfrm>
            <a:off x="1431614" y="1626224"/>
            <a:ext cx="9328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/>
              <a:t>Bug Liens</a:t>
            </a:r>
          </a:p>
        </p:txBody>
      </p:sp>
    </p:spTree>
    <p:extLst>
      <p:ext uri="{BB962C8B-B14F-4D97-AF65-F5344CB8AC3E}">
        <p14:creationId xmlns:p14="http://schemas.microsoft.com/office/powerpoint/2010/main" val="336451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C5DA33E7-9144-00E5-4784-05E26F918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9" name="Image 8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E3C6CF36-E993-6E41-ACFD-0294F93CA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sp>
        <p:nvSpPr>
          <p:cNvPr id="2" name="Sous-titre 2">
            <a:extLst>
              <a:ext uri="{FF2B5EF4-FFF2-40B4-BE49-F238E27FC236}">
                <a16:creationId xmlns:a16="http://schemas.microsoft.com/office/drawing/2014/main" id="{3E73BB49-F760-2961-519A-3227C2CA5947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19" name="Image 18" descr="Une image contenant capture d’écran, texte, logiciel, Logiciel multimédia&#10;&#10;Description générée automatiquement">
            <a:extLst>
              <a:ext uri="{FF2B5EF4-FFF2-40B4-BE49-F238E27FC236}">
                <a16:creationId xmlns:a16="http://schemas.microsoft.com/office/drawing/2014/main" id="{A5A9EFEE-F463-B5C2-68AF-DCD8803C9B7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1"/>
          <a:stretch/>
        </p:blipFill>
        <p:spPr>
          <a:xfrm>
            <a:off x="1431625" y="2659856"/>
            <a:ext cx="9328746" cy="2325333"/>
          </a:xfrm>
          <a:prstGeom prst="rect">
            <a:avLst/>
          </a:prstGeom>
        </p:spPr>
      </p:pic>
      <p:pic>
        <p:nvPicPr>
          <p:cNvPr id="21" name="Image 20" descr="Une image contenant capture d’écran, texte, logiciel, Logiciel multimédia&#10;&#10;Description générée automatiquement">
            <a:extLst>
              <a:ext uri="{FF2B5EF4-FFF2-40B4-BE49-F238E27FC236}">
                <a16:creationId xmlns:a16="http://schemas.microsoft.com/office/drawing/2014/main" id="{75A431D7-A0A0-B4C3-3382-53C16D2B62E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" r="305" b="1"/>
          <a:stretch/>
        </p:blipFill>
        <p:spPr>
          <a:xfrm>
            <a:off x="1431614" y="2659856"/>
            <a:ext cx="9328746" cy="21370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CF629A-5531-0B1D-78A7-F7FB3AF2B4D7}"/>
              </a:ext>
            </a:extLst>
          </p:cNvPr>
          <p:cNvSpPr txBox="1"/>
          <p:nvPr/>
        </p:nvSpPr>
        <p:spPr>
          <a:xfrm>
            <a:off x="1431614" y="1626224"/>
            <a:ext cx="9328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/>
              <a:t>Bug Tab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BF9717F0-E5E9-4186-30E2-A93D95F47F8F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MOMENTS CLÉ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071F2F-5DBE-A8F8-7C2F-5580283FCE1D}"/>
              </a:ext>
            </a:extLst>
          </p:cNvPr>
          <p:cNvSpPr/>
          <p:nvPr/>
        </p:nvSpPr>
        <p:spPr>
          <a:xfrm>
            <a:off x="3824288" y="1513477"/>
            <a:ext cx="458390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4022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28BB9-6E87-9156-DCFC-6AA84ED15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7FB5C4E1-1EB6-A459-1A84-2327C1B2C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9" name="Image 8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DBDBB000-C438-EE71-865F-37A05EF10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sp>
        <p:nvSpPr>
          <p:cNvPr id="2" name="Sous-titre 2">
            <a:extLst>
              <a:ext uri="{FF2B5EF4-FFF2-40B4-BE49-F238E27FC236}">
                <a16:creationId xmlns:a16="http://schemas.microsoft.com/office/drawing/2014/main" id="{3DC7F92F-F656-D193-0DEA-AB37F1724453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2124F-A050-09AB-240B-58DBA6B46A02}"/>
              </a:ext>
            </a:extLst>
          </p:cNvPr>
          <p:cNvSpPr txBox="1"/>
          <p:nvPr/>
        </p:nvSpPr>
        <p:spPr>
          <a:xfrm>
            <a:off x="1431614" y="1626224"/>
            <a:ext cx="9328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dirty="0"/>
              <a:t>Choix librairie PDF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B721F4C1-1278-FFC4-6D6B-06827911995B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MOMENTS CLÉ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374182-47E4-E723-5CEC-EE33FBADB989}"/>
              </a:ext>
            </a:extLst>
          </p:cNvPr>
          <p:cNvSpPr/>
          <p:nvPr/>
        </p:nvSpPr>
        <p:spPr>
          <a:xfrm>
            <a:off x="3824288" y="1513477"/>
            <a:ext cx="4583906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8BA60-6AF8-CA8F-4A28-386FD0FA229C}"/>
              </a:ext>
            </a:extLst>
          </p:cNvPr>
          <p:cNvSpPr txBox="1"/>
          <p:nvPr/>
        </p:nvSpPr>
        <p:spPr>
          <a:xfrm>
            <a:off x="1926990" y="3557885"/>
            <a:ext cx="2786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5400" dirty="0"/>
              <a:t>IText7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1FFF8-44B6-56A1-90E3-E1CE50335398}"/>
              </a:ext>
            </a:extLst>
          </p:cNvPr>
          <p:cNvSpPr txBox="1"/>
          <p:nvPr/>
        </p:nvSpPr>
        <p:spPr>
          <a:xfrm>
            <a:off x="5919052" y="3557885"/>
            <a:ext cx="4748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5400" dirty="0" err="1"/>
              <a:t>PdfSharpCore</a:t>
            </a:r>
            <a:r>
              <a:rPr lang="fr-CH" sz="5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94721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léger, art&#10;&#10;Description générée automatiquement avec une confiance moyenne">
            <a:extLst>
              <a:ext uri="{FF2B5EF4-FFF2-40B4-BE49-F238E27FC236}">
                <a16:creationId xmlns:a16="http://schemas.microsoft.com/office/drawing/2014/main" id="{3ADEC4B8-74A8-6906-9E01-B000B284C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" y="0"/>
            <a:ext cx="4902969" cy="6858000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0C530001-B230-3D10-2F5F-9885472943F3}"/>
              </a:ext>
            </a:extLst>
          </p:cNvPr>
          <p:cNvSpPr txBox="1">
            <a:spLocks/>
          </p:cNvSpPr>
          <p:nvPr/>
        </p:nvSpPr>
        <p:spPr>
          <a:xfrm>
            <a:off x="1523999" y="2551970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BILAN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22DCA6C-3DD4-FC80-A8AA-5E3378FA52D1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18" name="Image 17" descr="Une image contenant capture d’écran, obscurité, noir, espace&#10;&#10;Description générée automatiquement">
            <a:extLst>
              <a:ext uri="{FF2B5EF4-FFF2-40B4-BE49-F238E27FC236}">
                <a16:creationId xmlns:a16="http://schemas.microsoft.com/office/drawing/2014/main" id="{76098BFA-D95F-59BA-D109-7303EC83E5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968067" y="0"/>
            <a:ext cx="5249333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C77E4D-2F83-558C-8106-F85CA83ADBF7}"/>
              </a:ext>
            </a:extLst>
          </p:cNvPr>
          <p:cNvSpPr/>
          <p:nvPr/>
        </p:nvSpPr>
        <p:spPr>
          <a:xfrm>
            <a:off x="5194301" y="3713752"/>
            <a:ext cx="180975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BADE01-DAFC-E6F5-DC56-1DDB732B6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2522" y="4376791"/>
            <a:ext cx="1513477" cy="352425"/>
          </a:xfrm>
        </p:spPr>
        <p:txBody>
          <a:bodyPr>
            <a:normAutofit fontScale="92500" lnSpcReduction="20000"/>
          </a:bodyPr>
          <a:lstStyle/>
          <a:p>
            <a:r>
              <a:rPr lang="fr-CH" dirty="0"/>
              <a:t>PRODUIT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8108891E-0461-5DC1-C82F-C26D89E1A59D}"/>
              </a:ext>
            </a:extLst>
          </p:cNvPr>
          <p:cNvSpPr txBox="1">
            <a:spLocks/>
          </p:cNvSpPr>
          <p:nvPr/>
        </p:nvSpPr>
        <p:spPr>
          <a:xfrm>
            <a:off x="6095999" y="4376791"/>
            <a:ext cx="1513477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dirty="0"/>
              <a:t>PERSONEL</a:t>
            </a:r>
          </a:p>
        </p:txBody>
      </p:sp>
      <p:pic>
        <p:nvPicPr>
          <p:cNvPr id="8" name="Image 7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F0D70373-18AA-911E-9CCF-1C0306CB982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9" name="Image 8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8000CB8A-E602-A917-DF09-08DB8ACDF4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892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63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C5DA33E7-9144-00E5-4784-05E26F918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9" name="Image 8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E3C6CF36-E993-6E41-ACFD-0294F93CA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7DB1E783-77A1-5014-023B-1ED0E167DF08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BILAN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E712BE-B390-D236-41FC-4AD9079363C0}"/>
              </a:ext>
            </a:extLst>
          </p:cNvPr>
          <p:cNvSpPr/>
          <p:nvPr/>
        </p:nvSpPr>
        <p:spPr>
          <a:xfrm>
            <a:off x="5194301" y="1513477"/>
            <a:ext cx="180975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3E73BB49-F760-2961-519A-3227C2CA5947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7" name="Image 6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32B6B210-66C4-83B4-B321-C930DE002C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3" name="Image 12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ED3BD6F7-77F7-5B71-8494-2B39483A9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892" y="220938"/>
            <a:ext cx="281506" cy="281506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909022C-7041-D20A-3BE0-34E7D9F14F70}"/>
              </a:ext>
            </a:extLst>
          </p:cNvPr>
          <p:cNvGrpSpPr/>
          <p:nvPr/>
        </p:nvGrpSpPr>
        <p:grpSpPr>
          <a:xfrm>
            <a:off x="1513476" y="2814750"/>
            <a:ext cx="2060885" cy="2883408"/>
            <a:chOff x="1513476" y="2529000"/>
            <a:chExt cx="2060885" cy="2883408"/>
          </a:xfrm>
        </p:grpSpPr>
        <p:pic>
          <p:nvPicPr>
            <p:cNvPr id="17" name="Picture 16" descr="A orange key with a hole in the center&#10;&#10;AI-generated content may be incorrect.">
              <a:extLst>
                <a:ext uri="{FF2B5EF4-FFF2-40B4-BE49-F238E27FC236}">
                  <a16:creationId xmlns:a16="http://schemas.microsoft.com/office/drawing/2014/main" id="{F596001F-EFD9-A97C-B3C5-F99B86E8D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4361" y="2529000"/>
              <a:ext cx="1800000" cy="1800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C91AB45-8F2B-77C4-FEC2-72F5F57463D1}"/>
                </a:ext>
              </a:extLst>
            </p:cNvPr>
            <p:cNvSpPr txBox="1"/>
            <p:nvPr/>
          </p:nvSpPr>
          <p:spPr>
            <a:xfrm>
              <a:off x="1513476" y="4458301"/>
              <a:ext cx="206088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800" dirty="0"/>
                <a:t>Sécurisation du PAT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9C30C50-C9A2-2F56-C363-EEB5E8BA3A06}"/>
              </a:ext>
            </a:extLst>
          </p:cNvPr>
          <p:cNvGrpSpPr/>
          <p:nvPr/>
        </p:nvGrpSpPr>
        <p:grpSpPr>
          <a:xfrm>
            <a:off x="5065555" y="2814750"/>
            <a:ext cx="2060885" cy="2883408"/>
            <a:chOff x="5065555" y="2529000"/>
            <a:chExt cx="2060885" cy="2883408"/>
          </a:xfrm>
        </p:grpSpPr>
        <p:pic>
          <p:nvPicPr>
            <p:cNvPr id="14" name="Picture 13" descr="A black background with orange lines&#10;&#10;AI-generated content may be incorrect.">
              <a:extLst>
                <a:ext uri="{FF2B5EF4-FFF2-40B4-BE49-F238E27FC236}">
                  <a16:creationId xmlns:a16="http://schemas.microsoft.com/office/drawing/2014/main" id="{1C91B589-7DB4-8D62-8FF6-FAD16F3EB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4051" y="2529000"/>
              <a:ext cx="1800000" cy="18000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0FE85C6-31A0-4796-5F37-03A9F79D2A28}"/>
                </a:ext>
              </a:extLst>
            </p:cNvPr>
            <p:cNvSpPr txBox="1"/>
            <p:nvPr/>
          </p:nvSpPr>
          <p:spPr>
            <a:xfrm>
              <a:off x="5065555" y="4458301"/>
              <a:ext cx="206088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800" dirty="0"/>
                <a:t>Gestion Supprimés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373BDCF-9005-204A-F324-42EA1540B167}"/>
              </a:ext>
            </a:extLst>
          </p:cNvPr>
          <p:cNvGrpSpPr/>
          <p:nvPr/>
        </p:nvGrpSpPr>
        <p:grpSpPr>
          <a:xfrm>
            <a:off x="8503298" y="2814750"/>
            <a:ext cx="2060885" cy="2818447"/>
            <a:chOff x="8503298" y="2529000"/>
            <a:chExt cx="2060885" cy="2818447"/>
          </a:xfrm>
        </p:grpSpPr>
        <p:pic>
          <p:nvPicPr>
            <p:cNvPr id="10" name="Picture 9" descr="A clock on a black background&#10;&#10;AI-generated content may be incorrect.">
              <a:extLst>
                <a:ext uri="{FF2B5EF4-FFF2-40B4-BE49-F238E27FC236}">
                  <a16:creationId xmlns:a16="http://schemas.microsoft.com/office/drawing/2014/main" id="{B60C74D6-1056-EA3B-8705-4E3A99364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3741" y="2529000"/>
              <a:ext cx="1800000" cy="18000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B602C9-5D5D-5407-2888-73DA5031620C}"/>
                </a:ext>
              </a:extLst>
            </p:cNvPr>
            <p:cNvSpPr txBox="1"/>
            <p:nvPr/>
          </p:nvSpPr>
          <p:spPr>
            <a:xfrm>
              <a:off x="8503298" y="4393340"/>
              <a:ext cx="206088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H" sz="2800" dirty="0"/>
                <a:t>Filtre Temporel</a:t>
              </a:r>
            </a:p>
          </p:txBody>
        </p:sp>
      </p:grpSp>
      <p:sp>
        <p:nvSpPr>
          <p:cNvPr id="23" name="Sous-titre 2">
            <a:extLst>
              <a:ext uri="{FF2B5EF4-FFF2-40B4-BE49-F238E27FC236}">
                <a16:creationId xmlns:a16="http://schemas.microsoft.com/office/drawing/2014/main" id="{CCD03722-73CB-6769-8286-5313C929327E}"/>
              </a:ext>
            </a:extLst>
          </p:cNvPr>
          <p:cNvSpPr txBox="1">
            <a:spLocks/>
          </p:cNvSpPr>
          <p:nvPr/>
        </p:nvSpPr>
        <p:spPr>
          <a:xfrm>
            <a:off x="4238612" y="1568721"/>
            <a:ext cx="3714749" cy="106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dirty="0"/>
              <a:t>PRODUIT</a:t>
            </a:r>
          </a:p>
          <a:p>
            <a:r>
              <a:rPr lang="fr-CH" dirty="0"/>
              <a:t>amélioration</a:t>
            </a:r>
          </a:p>
        </p:txBody>
      </p:sp>
    </p:spTree>
    <p:extLst>
      <p:ext uri="{BB962C8B-B14F-4D97-AF65-F5344CB8AC3E}">
        <p14:creationId xmlns:p14="http://schemas.microsoft.com/office/powerpoint/2010/main" val="3776245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C5DA33E7-9144-00E5-4784-05E26F918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46" y="0"/>
            <a:ext cx="2689454" cy="5400000"/>
          </a:xfrm>
          <a:prstGeom prst="rect">
            <a:avLst/>
          </a:prstGeom>
        </p:spPr>
      </p:pic>
      <p:pic>
        <p:nvPicPr>
          <p:cNvPr id="9" name="Image 8" descr="Une image contenant noir, obscurité, noir et blanc, lune&#10;&#10;Description générée automatiquement">
            <a:extLst>
              <a:ext uri="{FF2B5EF4-FFF2-40B4-BE49-F238E27FC236}">
                <a16:creationId xmlns:a16="http://schemas.microsoft.com/office/drawing/2014/main" id="{E3C6CF36-E993-6E41-ACFD-0294F93CA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8000"/>
            <a:ext cx="1513476" cy="5400000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E2260739-83C7-5D4B-6A3F-5A8F57952BEB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BILAN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CC0C3A-A11A-4C31-734B-2037809C3D48}"/>
              </a:ext>
            </a:extLst>
          </p:cNvPr>
          <p:cNvSpPr/>
          <p:nvPr/>
        </p:nvSpPr>
        <p:spPr>
          <a:xfrm>
            <a:off x="5194301" y="1513477"/>
            <a:ext cx="180975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0D6936E9-AD2C-87BD-C62B-ED59440A7FBC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11" name="Image 10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C727C7C5-84EF-B869-EF89-9A5E6AA326A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12" name="Image 11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9310C2DE-10CC-78CF-903E-76138E493A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892" y="220938"/>
            <a:ext cx="281506" cy="281506"/>
          </a:xfrm>
          <a:prstGeom prst="rect">
            <a:avLst/>
          </a:prstGeom>
        </p:spPr>
      </p:pic>
      <p:pic>
        <p:nvPicPr>
          <p:cNvPr id="7" name="Picture 6" descr="A black background with orange letters&#10;&#10;AI-generated content may be incorrect.">
            <a:extLst>
              <a:ext uri="{FF2B5EF4-FFF2-40B4-BE49-F238E27FC236}">
                <a16:creationId xmlns:a16="http://schemas.microsoft.com/office/drawing/2014/main" id="{032BD3E7-A357-D8B8-2A1E-8B48801BAA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545" y="2788595"/>
            <a:ext cx="1800000" cy="1800000"/>
          </a:xfrm>
          <a:prstGeom prst="rect">
            <a:avLst/>
          </a:prstGeom>
        </p:spPr>
      </p:pic>
      <p:pic>
        <p:nvPicPr>
          <p:cNvPr id="27" name="Picture 26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7D304506-BF52-54EB-3B04-C9A9FA9DBF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051" y="2819740"/>
            <a:ext cx="1800000" cy="1800000"/>
          </a:xfrm>
          <a:prstGeom prst="rect">
            <a:avLst/>
          </a:prstGeom>
        </p:spPr>
      </p:pic>
      <p:pic>
        <p:nvPicPr>
          <p:cNvPr id="28" name="Image 4" descr="Une image contenant Police, capture d’écran, Graphique, texte&#10;&#10;Description générée automatiquement">
            <a:extLst>
              <a:ext uri="{FF2B5EF4-FFF2-40B4-BE49-F238E27FC236}">
                <a16:creationId xmlns:a16="http://schemas.microsoft.com/office/drawing/2014/main" id="{7426B6A7-093A-E8FA-4267-13B2E8529C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455" y="2788595"/>
            <a:ext cx="1800000" cy="180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B2A5217-ED40-CCE6-3E18-72C21C058B12}"/>
              </a:ext>
            </a:extLst>
          </p:cNvPr>
          <p:cNvSpPr txBox="1"/>
          <p:nvPr/>
        </p:nvSpPr>
        <p:spPr>
          <a:xfrm>
            <a:off x="1513476" y="4744051"/>
            <a:ext cx="2060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800" dirty="0"/>
              <a:t>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6216B8-7E5B-E8E8-31AF-3B79E8E38153}"/>
              </a:ext>
            </a:extLst>
          </p:cNvPr>
          <p:cNvSpPr txBox="1"/>
          <p:nvPr/>
        </p:nvSpPr>
        <p:spPr>
          <a:xfrm>
            <a:off x="5065555" y="4744051"/>
            <a:ext cx="2060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800" dirty="0"/>
              <a:t>WPF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DA23CC-10B8-410D-B5DE-5D23A90EF0FB}"/>
              </a:ext>
            </a:extLst>
          </p:cNvPr>
          <p:cNvSpPr txBox="1"/>
          <p:nvPr/>
        </p:nvSpPr>
        <p:spPr>
          <a:xfrm>
            <a:off x="8503298" y="4679090"/>
            <a:ext cx="2060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800" dirty="0"/>
              <a:t>Génération PDF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241134A0-DC48-CDCD-128B-307201926FFA}"/>
              </a:ext>
            </a:extLst>
          </p:cNvPr>
          <p:cNvSpPr txBox="1">
            <a:spLocks/>
          </p:cNvSpPr>
          <p:nvPr/>
        </p:nvSpPr>
        <p:spPr>
          <a:xfrm>
            <a:off x="4238612" y="1568721"/>
            <a:ext cx="3714749" cy="106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dirty="0"/>
              <a:t>PERSONEL</a:t>
            </a:r>
          </a:p>
        </p:txBody>
      </p:sp>
    </p:spTree>
    <p:extLst>
      <p:ext uri="{BB962C8B-B14F-4D97-AF65-F5344CB8AC3E}">
        <p14:creationId xmlns:p14="http://schemas.microsoft.com/office/powerpoint/2010/main" val="29355597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 descr="Une image contenant ligne, symbole, art&#10;&#10;Description générée automatiquement">
            <a:extLst>
              <a:ext uri="{FF2B5EF4-FFF2-40B4-BE49-F238E27FC236}">
                <a16:creationId xmlns:a16="http://schemas.microsoft.com/office/drawing/2014/main" id="{46D74A18-0D41-0849-4E11-7B843C85C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9453" cy="5400000"/>
          </a:xfrm>
          <a:prstGeom prst="rect">
            <a:avLst/>
          </a:prstGeom>
        </p:spPr>
      </p:pic>
      <p:pic>
        <p:nvPicPr>
          <p:cNvPr id="19" name="Image 18" descr="Une image contenant noir, obscurité, noir et blanc, monochrome&#10;&#10;Description générée automatiquement">
            <a:extLst>
              <a:ext uri="{FF2B5EF4-FFF2-40B4-BE49-F238E27FC236}">
                <a16:creationId xmlns:a16="http://schemas.microsoft.com/office/drawing/2014/main" id="{BB17063D-3505-69F8-F411-E34A27F8F7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524" y="1458000"/>
            <a:ext cx="1513476" cy="5400000"/>
          </a:xfrm>
          <a:prstGeom prst="rect">
            <a:avLst/>
          </a:prstGeom>
        </p:spPr>
      </p:pic>
      <p:sp>
        <p:nvSpPr>
          <p:cNvPr id="25" name="Titre 1">
            <a:extLst>
              <a:ext uri="{FF2B5EF4-FFF2-40B4-BE49-F238E27FC236}">
                <a16:creationId xmlns:a16="http://schemas.microsoft.com/office/drawing/2014/main" id="{37E096F8-08C4-7DEC-02E6-27494C264359}"/>
              </a:ext>
            </a:extLst>
          </p:cNvPr>
          <p:cNvSpPr txBox="1">
            <a:spLocks/>
          </p:cNvSpPr>
          <p:nvPr/>
        </p:nvSpPr>
        <p:spPr>
          <a:xfrm>
            <a:off x="1523999" y="346684"/>
            <a:ext cx="9144000" cy="13539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dirty="0"/>
              <a:t>QUESTIONS</a:t>
            </a:r>
          </a:p>
        </p:txBody>
      </p:sp>
      <p:pic>
        <p:nvPicPr>
          <p:cNvPr id="27" name="Image 26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852C1283-6BA8-1F38-8CD9-7D3D446D0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057" y="1797019"/>
            <a:ext cx="3713883" cy="371388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50C529D-6D1B-7B36-D4C9-A72BE05C4428}"/>
              </a:ext>
            </a:extLst>
          </p:cNvPr>
          <p:cNvSpPr/>
          <p:nvPr/>
        </p:nvSpPr>
        <p:spPr>
          <a:xfrm>
            <a:off x="4272180" y="1513477"/>
            <a:ext cx="364764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90D80FA4-C769-F868-2F4B-893E978FFAE6}"/>
              </a:ext>
            </a:extLst>
          </p:cNvPr>
          <p:cNvSpPr txBox="1">
            <a:spLocks/>
          </p:cNvSpPr>
          <p:nvPr/>
        </p:nvSpPr>
        <p:spPr>
          <a:xfrm>
            <a:off x="0" y="6607746"/>
            <a:ext cx="12192000" cy="500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 sz="900" dirty="0"/>
              <a:t>Morgan Dussault		presentation_GitJournal_TPI.pptx		11.06.2025</a:t>
            </a:r>
          </a:p>
        </p:txBody>
      </p:sp>
      <p:pic>
        <p:nvPicPr>
          <p:cNvPr id="4" name="Image 3" descr="Une image contenant noir, capture d’écran&#10;&#10;Description générée automatiquement">
            <a:extLst>
              <a:ext uri="{FF2B5EF4-FFF2-40B4-BE49-F238E27FC236}">
                <a16:creationId xmlns:a16="http://schemas.microsoft.com/office/drawing/2014/main" id="{3C6B7690-86B2-D07F-D373-0A5F3CEEEAA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74" b="39052"/>
          <a:stretch/>
        </p:blipFill>
        <p:spPr>
          <a:xfrm>
            <a:off x="4702450" y="106898"/>
            <a:ext cx="2787096" cy="463272"/>
          </a:xfrm>
          <a:prstGeom prst="rect">
            <a:avLst/>
          </a:prstGeom>
        </p:spPr>
      </p:pic>
      <p:pic>
        <p:nvPicPr>
          <p:cNvPr id="5" name="Image 4" descr="Une image contenant cercle, orange&#10;&#10;Description générée automatiquement">
            <a:extLst>
              <a:ext uri="{FF2B5EF4-FFF2-40B4-BE49-F238E27FC236}">
                <a16:creationId xmlns:a16="http://schemas.microsoft.com/office/drawing/2014/main" id="{AFF35ECC-70A0-B496-A27A-78FD197C75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382" y="220938"/>
            <a:ext cx="281506" cy="2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22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</TotalTime>
  <Words>1163</Words>
  <Application>Microsoft Office PowerPoint</Application>
  <PresentationFormat>Widescreen</PresentationFormat>
  <Paragraphs>310</Paragraphs>
  <Slides>41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DGEP - Etat de Vaud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Morgan Dimitri Dussault</dc:creator>
  <cp:lastModifiedBy>Morgan Dimitri Dussault</cp:lastModifiedBy>
  <cp:revision>302</cp:revision>
  <dcterms:created xsi:type="dcterms:W3CDTF">2025-06-04T06:26:03Z</dcterms:created>
  <dcterms:modified xsi:type="dcterms:W3CDTF">2025-06-10T09:07:03Z</dcterms:modified>
</cp:coreProperties>
</file>